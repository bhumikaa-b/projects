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5" r:id="rId4"/>
    <p:sldId id="257" r:id="rId5"/>
    <p:sldId id="260" r:id="rId6"/>
    <p:sldId id="258" r:id="rId7"/>
    <p:sldId id="259" r:id="rId8"/>
    <p:sldId id="261" r:id="rId9"/>
    <p:sldId id="262"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39" d="100"/>
          <a:sy n="39" d="100"/>
        </p:scale>
        <p:origin x="78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mikaa Balamurali" userId="e18813732d9ab82e" providerId="LiveId" clId="{4A333CEB-6306-45CE-B71E-3FEE5A7B517D}"/>
    <pc:docChg chg="custSel addSld modSld">
      <pc:chgData name="Bhumikaa Balamurali" userId="e18813732d9ab82e" providerId="LiveId" clId="{4A333CEB-6306-45CE-B71E-3FEE5A7B517D}" dt="2025-08-13T13:48:25.996" v="83" actId="27636"/>
      <pc:docMkLst>
        <pc:docMk/>
      </pc:docMkLst>
      <pc:sldChg chg="delSp modSp">
        <pc:chgData name="Bhumikaa Balamurali" userId="e18813732d9ab82e" providerId="LiveId" clId="{4A333CEB-6306-45CE-B71E-3FEE5A7B517D}" dt="2025-08-13T05:01:45.953" v="1" actId="478"/>
        <pc:sldMkLst>
          <pc:docMk/>
          <pc:sldMk cId="466235388" sldId="256"/>
        </pc:sldMkLst>
        <pc:spChg chg="del mod">
          <ac:chgData name="Bhumikaa Balamurali" userId="e18813732d9ab82e" providerId="LiveId" clId="{4A333CEB-6306-45CE-B71E-3FEE5A7B517D}" dt="2025-08-13T05:01:45.953" v="1" actId="478"/>
          <ac:spMkLst>
            <pc:docMk/>
            <pc:sldMk cId="466235388" sldId="256"/>
            <ac:spMk id="3" creationId="{2CDE3C34-55E0-474E-B8B4-28FC09184424}"/>
          </ac:spMkLst>
        </pc:spChg>
      </pc:sldChg>
      <pc:sldChg chg="modSp">
        <pc:chgData name="Bhumikaa Balamurali" userId="e18813732d9ab82e" providerId="LiveId" clId="{4A333CEB-6306-45CE-B71E-3FEE5A7B517D}" dt="2025-08-13T13:36:08.280" v="27" actId="113"/>
        <pc:sldMkLst>
          <pc:docMk/>
          <pc:sldMk cId="2710630544" sldId="257"/>
        </pc:sldMkLst>
        <pc:spChg chg="mod">
          <ac:chgData name="Bhumikaa Balamurali" userId="e18813732d9ab82e" providerId="LiveId" clId="{4A333CEB-6306-45CE-B71E-3FEE5A7B517D}" dt="2025-08-13T13:36:08.280" v="27" actId="113"/>
          <ac:spMkLst>
            <pc:docMk/>
            <pc:sldMk cId="2710630544" sldId="257"/>
            <ac:spMk id="2" creationId="{07D510C6-781E-45A5-AE65-F7BB2072D909}"/>
          </ac:spMkLst>
        </pc:spChg>
      </pc:sldChg>
      <pc:sldChg chg="addSp delSp modSp">
        <pc:chgData name="Bhumikaa Balamurali" userId="e18813732d9ab82e" providerId="LiveId" clId="{4A333CEB-6306-45CE-B71E-3FEE5A7B517D}" dt="2025-08-13T13:47:29.386" v="50" actId="14100"/>
        <pc:sldMkLst>
          <pc:docMk/>
          <pc:sldMk cId="3753610641" sldId="262"/>
        </pc:sldMkLst>
        <pc:spChg chg="mod">
          <ac:chgData name="Bhumikaa Balamurali" userId="e18813732d9ab82e" providerId="LiveId" clId="{4A333CEB-6306-45CE-B71E-3FEE5A7B517D}" dt="2025-08-13T13:38:04.679" v="40" actId="20577"/>
          <ac:spMkLst>
            <pc:docMk/>
            <pc:sldMk cId="3753610641" sldId="262"/>
            <ac:spMk id="2" creationId="{820878F9-293A-4C20-9D20-35784A7D95EA}"/>
          </ac:spMkLst>
        </pc:spChg>
        <pc:spChg chg="del">
          <ac:chgData name="Bhumikaa Balamurali" userId="e18813732d9ab82e" providerId="LiveId" clId="{4A333CEB-6306-45CE-B71E-3FEE5A7B517D}" dt="2025-08-13T13:40:33.837" v="41"/>
          <ac:spMkLst>
            <pc:docMk/>
            <pc:sldMk cId="3753610641" sldId="262"/>
            <ac:spMk id="3" creationId="{3A763D53-667C-4EDF-8E03-6D7775F2133F}"/>
          </ac:spMkLst>
        </pc:spChg>
        <pc:picChg chg="add mod">
          <ac:chgData name="Bhumikaa Balamurali" userId="e18813732d9ab82e" providerId="LiveId" clId="{4A333CEB-6306-45CE-B71E-3FEE5A7B517D}" dt="2025-08-13T13:40:48.545" v="45" actId="1076"/>
          <ac:picMkLst>
            <pc:docMk/>
            <pc:sldMk cId="3753610641" sldId="262"/>
            <ac:picMk id="5" creationId="{A574CA4D-CD2C-4DC9-BFDB-A3A0BD06F001}"/>
          </ac:picMkLst>
        </pc:picChg>
        <pc:picChg chg="add mod">
          <ac:chgData name="Bhumikaa Balamurali" userId="e18813732d9ab82e" providerId="LiveId" clId="{4A333CEB-6306-45CE-B71E-3FEE5A7B517D}" dt="2025-08-13T13:47:29.386" v="50" actId="14100"/>
          <ac:picMkLst>
            <pc:docMk/>
            <pc:sldMk cId="3753610641" sldId="262"/>
            <ac:picMk id="7" creationId="{0EBE409A-695B-4B4C-B973-8D07D3698F00}"/>
          </ac:picMkLst>
        </pc:picChg>
      </pc:sldChg>
      <pc:sldChg chg="addSp delSp modSp add">
        <pc:chgData name="Bhumikaa Balamurali" userId="e18813732d9ab82e" providerId="LiveId" clId="{4A333CEB-6306-45CE-B71E-3FEE5A7B517D}" dt="2025-08-13T13:35:56.601" v="25" actId="113"/>
        <pc:sldMkLst>
          <pc:docMk/>
          <pc:sldMk cId="1915433026" sldId="263"/>
        </pc:sldMkLst>
        <pc:spChg chg="mod">
          <ac:chgData name="Bhumikaa Balamurali" userId="e18813732d9ab82e" providerId="LiveId" clId="{4A333CEB-6306-45CE-B71E-3FEE5A7B517D}" dt="2025-08-13T13:35:56.601" v="25" actId="113"/>
          <ac:spMkLst>
            <pc:docMk/>
            <pc:sldMk cId="1915433026" sldId="263"/>
            <ac:spMk id="2" creationId="{0088F5A7-20AE-4C05-AFD0-BD41CD08D793}"/>
          </ac:spMkLst>
        </pc:spChg>
        <pc:spChg chg="mod">
          <ac:chgData name="Bhumikaa Balamurali" userId="e18813732d9ab82e" providerId="LiveId" clId="{4A333CEB-6306-45CE-B71E-3FEE5A7B517D}" dt="2025-08-13T13:35:43.824" v="22"/>
          <ac:spMkLst>
            <pc:docMk/>
            <pc:sldMk cId="1915433026" sldId="263"/>
            <ac:spMk id="3" creationId="{3784444B-1806-4F9F-99BD-41BD7AC898EE}"/>
          </ac:spMkLst>
        </pc:spChg>
        <pc:spChg chg="add del">
          <ac:chgData name="Bhumikaa Balamurali" userId="e18813732d9ab82e" providerId="LiveId" clId="{4A333CEB-6306-45CE-B71E-3FEE5A7B517D}" dt="2025-08-13T13:35:41.960" v="21"/>
          <ac:spMkLst>
            <pc:docMk/>
            <pc:sldMk cId="1915433026" sldId="263"/>
            <ac:spMk id="4" creationId="{842896B5-026E-4CF4-A1E1-123AC8487352}"/>
          </ac:spMkLst>
        </pc:spChg>
      </pc:sldChg>
      <pc:sldChg chg="delSp modSp add">
        <pc:chgData name="Bhumikaa Balamurali" userId="e18813732d9ab82e" providerId="LiveId" clId="{4A333CEB-6306-45CE-B71E-3FEE5A7B517D}" dt="2025-08-13T13:47:52.919" v="65" actId="20577"/>
        <pc:sldMkLst>
          <pc:docMk/>
          <pc:sldMk cId="1648705641" sldId="264"/>
        </pc:sldMkLst>
        <pc:spChg chg="del">
          <ac:chgData name="Bhumikaa Balamurali" userId="e18813732d9ab82e" providerId="LiveId" clId="{4A333CEB-6306-45CE-B71E-3FEE5A7B517D}" dt="2025-08-13T13:47:38.558" v="52" actId="478"/>
          <ac:spMkLst>
            <pc:docMk/>
            <pc:sldMk cId="1648705641" sldId="264"/>
            <ac:spMk id="2" creationId="{7338AAA4-F347-4560-99CF-B838FE1674CE}"/>
          </ac:spMkLst>
        </pc:spChg>
        <pc:spChg chg="mod">
          <ac:chgData name="Bhumikaa Balamurali" userId="e18813732d9ab82e" providerId="LiveId" clId="{4A333CEB-6306-45CE-B71E-3FEE5A7B517D}" dt="2025-08-13T13:47:52.919" v="65" actId="20577"/>
          <ac:spMkLst>
            <pc:docMk/>
            <pc:sldMk cId="1648705641" sldId="264"/>
            <ac:spMk id="3" creationId="{C57F642A-8CE8-4E0B-9B73-DCEAAA3C1944}"/>
          </ac:spMkLst>
        </pc:spChg>
      </pc:sldChg>
      <pc:sldChg chg="modSp add">
        <pc:chgData name="Bhumikaa Balamurali" userId="e18813732d9ab82e" providerId="LiveId" clId="{4A333CEB-6306-45CE-B71E-3FEE5A7B517D}" dt="2025-08-13T13:48:25.996" v="83" actId="27636"/>
        <pc:sldMkLst>
          <pc:docMk/>
          <pc:sldMk cId="2234195801" sldId="265"/>
        </pc:sldMkLst>
        <pc:spChg chg="mod">
          <ac:chgData name="Bhumikaa Balamurali" userId="e18813732d9ab82e" providerId="LiveId" clId="{4A333CEB-6306-45CE-B71E-3FEE5A7B517D}" dt="2025-08-13T13:48:11.366" v="80" actId="113"/>
          <ac:spMkLst>
            <pc:docMk/>
            <pc:sldMk cId="2234195801" sldId="265"/>
            <ac:spMk id="2" creationId="{1F44671A-CDD9-4671-B0A6-967EBD47FBFD}"/>
          </ac:spMkLst>
        </pc:spChg>
        <pc:spChg chg="mod">
          <ac:chgData name="Bhumikaa Balamurali" userId="e18813732d9ab82e" providerId="LiveId" clId="{4A333CEB-6306-45CE-B71E-3FEE5A7B517D}" dt="2025-08-13T13:48:25.996" v="83" actId="27636"/>
          <ac:spMkLst>
            <pc:docMk/>
            <pc:sldMk cId="2234195801" sldId="265"/>
            <ac:spMk id="3" creationId="{E3495480-7FBB-423B-88A1-F53B776F512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9562E-51C6-4286-A718-BB157249B2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2FFE3C1-49F6-46A8-9264-25B0092040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0A3B0B-0F6F-4097-8D92-C6F27B63496B}"/>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233D754C-EC38-44F2-B6ED-C5CB1A21C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CDF34-E3DE-4C3F-B871-68C7BD6AB792}"/>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447379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7F28-624E-48A3-A745-23728101D7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AE3377-DD3B-4748-90F7-118B201BB7E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382F2E-2672-4F64-888D-FBDDC0F962C5}"/>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61F0A0EF-61DF-4F90-B084-64D4DDC9AD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E0371E-8777-460E-A515-96EA5A6DB73B}"/>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3318324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C5D0-85C9-4A06-A4A7-1ECF08B9F3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33295D-8B5E-40B0-B509-8A45A30B99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A5A08E-B527-4D53-A72A-265915A7891B}"/>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B0788CDF-D43F-4885-9774-0F1C1885EB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4822C5-3AE2-4296-904F-67723EC9406C}"/>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1144708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E4A1-7B26-47E2-9DF6-DB5D6FE9CB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7B0109-FB20-421A-BF9D-F68470010B4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7AA833-CEDD-45B3-A459-F099EC98C8A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48D8DE-205A-4F16-99AB-C63DACCF31E7}"/>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6" name="Footer Placeholder 5">
            <a:extLst>
              <a:ext uri="{FF2B5EF4-FFF2-40B4-BE49-F238E27FC236}">
                <a16:creationId xmlns:a16="http://schemas.microsoft.com/office/drawing/2014/main" id="{A567AA3F-C81D-4E5B-9B0D-E07D93C468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28E797-F1E2-41C1-8120-2218DC8A7386}"/>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472141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7A1A-91C6-4AE1-B16E-098ADE1745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6F426D-F5D7-4895-9691-B53408E32A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831A499-5170-47FF-AD07-ECFE2D44145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C72A48-3F4F-40F1-A74A-6EFF9B3E6E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AAB63F1-8252-4B08-891B-04E966C64D5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C8653E-A823-4CD5-B3FE-8B6BAD4AB15D}"/>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8" name="Footer Placeholder 7">
            <a:extLst>
              <a:ext uri="{FF2B5EF4-FFF2-40B4-BE49-F238E27FC236}">
                <a16:creationId xmlns:a16="http://schemas.microsoft.com/office/drawing/2014/main" id="{0E727397-5F58-4A56-9767-ABD725A2C8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1E520F6-17E6-46A2-9C9D-899527BB2E68}"/>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796665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F0A9D-44B4-407C-AFDD-DDC6B52F08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C79F31-EE7C-41F4-BD92-A5D895E5B84A}"/>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4" name="Footer Placeholder 3">
            <a:extLst>
              <a:ext uri="{FF2B5EF4-FFF2-40B4-BE49-F238E27FC236}">
                <a16:creationId xmlns:a16="http://schemas.microsoft.com/office/drawing/2014/main" id="{A2D7A7F6-AA25-49CD-8DA3-A41B9631A1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C74FDB-EC39-4923-8D31-B214976C4FDF}"/>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212059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6A0A26-971F-4A82-BE2A-01F7D029A0BE}"/>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3" name="Footer Placeholder 2">
            <a:extLst>
              <a:ext uri="{FF2B5EF4-FFF2-40B4-BE49-F238E27FC236}">
                <a16:creationId xmlns:a16="http://schemas.microsoft.com/office/drawing/2014/main" id="{041BE519-9839-4E25-B976-94FBDA44E6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71CE08-D5AA-479B-9E66-6475DD398BA9}"/>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2014352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8553-38F2-4019-9B8B-B5805E6C7A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AAD6AA-A30A-44D0-951D-E694A2D682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53A83E-22CA-4578-B86F-53579596B3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BAA6CE4-65A2-427C-9453-A34EBE0DDA15}"/>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6" name="Footer Placeholder 5">
            <a:extLst>
              <a:ext uri="{FF2B5EF4-FFF2-40B4-BE49-F238E27FC236}">
                <a16:creationId xmlns:a16="http://schemas.microsoft.com/office/drawing/2014/main" id="{A8B9F763-E209-4BA9-BC8C-13835CBD5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E224E5-5F4D-461E-AAE8-D7B6B98796F2}"/>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570461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076F-412C-47A5-8580-98FD412B1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48BD47-A558-4FCA-AA52-6996FAEC86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BCBA2E-D844-4650-8F71-25ED0DC22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8863F3-56C3-40EE-8EA8-B2B0EA1EC346}"/>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6" name="Footer Placeholder 5">
            <a:extLst>
              <a:ext uri="{FF2B5EF4-FFF2-40B4-BE49-F238E27FC236}">
                <a16:creationId xmlns:a16="http://schemas.microsoft.com/office/drawing/2014/main" id="{9114AF40-45F6-443B-8663-6BC329A130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5EE37C-8439-4AF8-9562-FDF46842544D}"/>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3402469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9F83-00A5-44DE-AE72-5C57D05EA2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FF4DD2-999C-4419-889B-CCC0641ECC4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21AE2-07B8-44A2-83AF-2ADCF828559B}"/>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9110F861-7CB5-4EBA-B9E0-845E52FE30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D732CC-7F89-48EA-9AA4-DB99441D29C1}"/>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2436654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57BE0-6C5F-45A3-8CFD-6691EF5C22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7C96BA-E56E-487B-8294-9C4E89F34EC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6B8F86-864A-493A-9102-4B25667F70FC}"/>
              </a:ext>
            </a:extLst>
          </p:cNvPr>
          <p:cNvSpPr>
            <a:spLocks noGrp="1"/>
          </p:cNvSpPr>
          <p:nvPr>
            <p:ph type="dt" sz="half" idx="10"/>
          </p:nvPr>
        </p:nvSpPr>
        <p:spPr/>
        <p:txBody>
          <a:body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6E69245D-8EBA-4231-A5B1-CAFE9B519F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8378D0-1BDA-4301-BAE8-0708D7153274}"/>
              </a:ext>
            </a:extLst>
          </p:cNvPr>
          <p:cNvSpPr>
            <a:spLocks noGrp="1"/>
          </p:cNvSpPr>
          <p:nvPr>
            <p:ph type="sldNum" sz="quarter" idx="12"/>
          </p:nvPr>
        </p:nvSpPr>
        <p:spPr/>
        <p:txBody>
          <a:bodyPr/>
          <a:lstStyle/>
          <a:p>
            <a:fld id="{D6D915C8-D94E-4021-9DCB-A0807F71AD3F}" type="slidenum">
              <a:rPr lang="en-IN" smtClean="0"/>
              <a:t>‹#›</a:t>
            </a:fld>
            <a:endParaRPr lang="en-IN"/>
          </a:p>
        </p:txBody>
      </p:sp>
    </p:spTree>
    <p:extLst>
      <p:ext uri="{BB962C8B-B14F-4D97-AF65-F5344CB8AC3E}">
        <p14:creationId xmlns:p14="http://schemas.microsoft.com/office/powerpoint/2010/main" val="3593290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DEF00A-F421-4A86-8A34-8EDDA1558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21A1CF-0B85-4E44-A142-BA507CCFD1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CB98B0-AF30-4B35-A73B-55F45D6577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DD8951-2D37-408A-AA17-224E3AE12554}" type="datetimeFigureOut">
              <a:rPr lang="en-IN" smtClean="0"/>
              <a:t>13-08-2025</a:t>
            </a:fld>
            <a:endParaRPr lang="en-IN"/>
          </a:p>
        </p:txBody>
      </p:sp>
      <p:sp>
        <p:nvSpPr>
          <p:cNvPr id="5" name="Footer Placeholder 4">
            <a:extLst>
              <a:ext uri="{FF2B5EF4-FFF2-40B4-BE49-F238E27FC236}">
                <a16:creationId xmlns:a16="http://schemas.microsoft.com/office/drawing/2014/main" id="{AD5703F2-4426-4B56-B973-743D2AD047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6D1BC6E-6A26-4C43-98DE-FA99945378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D915C8-D94E-4021-9DCB-A0807F71AD3F}" type="slidenum">
              <a:rPr lang="en-IN" smtClean="0"/>
              <a:t>‹#›</a:t>
            </a:fld>
            <a:endParaRPr lang="en-IN"/>
          </a:p>
        </p:txBody>
      </p:sp>
    </p:spTree>
    <p:extLst>
      <p:ext uri="{BB962C8B-B14F-4D97-AF65-F5344CB8AC3E}">
        <p14:creationId xmlns:p14="http://schemas.microsoft.com/office/powerpoint/2010/main" val="886304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36B6-E86D-4F1C-ADA6-1F39DD568053}"/>
              </a:ext>
            </a:extLst>
          </p:cNvPr>
          <p:cNvSpPr>
            <a:spLocks noGrp="1"/>
          </p:cNvSpPr>
          <p:nvPr>
            <p:ph type="ctrTitle"/>
          </p:nvPr>
        </p:nvSpPr>
        <p:spPr/>
        <p:txBody>
          <a:bodyPr/>
          <a:lstStyle/>
          <a:p>
            <a:r>
              <a:rPr lang="en-US" dirty="0"/>
              <a:t>Sensa Band </a:t>
            </a:r>
            <a:endParaRPr lang="en-IN" dirty="0"/>
          </a:p>
        </p:txBody>
      </p:sp>
    </p:spTree>
    <p:extLst>
      <p:ext uri="{BB962C8B-B14F-4D97-AF65-F5344CB8AC3E}">
        <p14:creationId xmlns:p14="http://schemas.microsoft.com/office/powerpoint/2010/main" val="466235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F5A7-20AE-4C05-AFD0-BD41CD08D793}"/>
              </a:ext>
            </a:extLst>
          </p:cNvPr>
          <p:cNvSpPr>
            <a:spLocks noGrp="1"/>
          </p:cNvSpPr>
          <p:nvPr>
            <p:ph type="title"/>
          </p:nvPr>
        </p:nvSpPr>
        <p:spPr/>
        <p:txBody>
          <a:bodyPr/>
          <a:lstStyle/>
          <a:p>
            <a:pPr algn="ctr"/>
            <a:r>
              <a:rPr lang="en-US" b="1" dirty="0"/>
              <a:t>PROBLEM STATEMENT</a:t>
            </a:r>
            <a:endParaRPr lang="en-IN" b="1" dirty="0"/>
          </a:p>
        </p:txBody>
      </p:sp>
      <p:sp>
        <p:nvSpPr>
          <p:cNvPr id="3" name="Content Placeholder 2">
            <a:extLst>
              <a:ext uri="{FF2B5EF4-FFF2-40B4-BE49-F238E27FC236}">
                <a16:creationId xmlns:a16="http://schemas.microsoft.com/office/drawing/2014/main" id="{3784444B-1806-4F9F-99BD-41BD7AC898EE}"/>
              </a:ext>
            </a:extLst>
          </p:cNvPr>
          <p:cNvSpPr>
            <a:spLocks noGrp="1"/>
          </p:cNvSpPr>
          <p:nvPr>
            <p:ph idx="1"/>
          </p:nvPr>
        </p:nvSpPr>
        <p:spPr/>
        <p:txBody>
          <a:bodyPr/>
          <a:lstStyle/>
          <a:p>
            <a:r>
              <a:rPr lang="en-US" dirty="0"/>
              <a:t>"Women and children are often vulnerable in isolated public spaces, where danger can appear without warning. Current safety tools are reactive and require manual activation, offering no way to proactively detect threats such as hostile behavior or concealed weapons. This leaves them without an early-warning system that could prevent harm."</a:t>
            </a:r>
            <a:endParaRPr lang="en-IN" dirty="0"/>
          </a:p>
        </p:txBody>
      </p:sp>
    </p:spTree>
    <p:extLst>
      <p:ext uri="{BB962C8B-B14F-4D97-AF65-F5344CB8AC3E}">
        <p14:creationId xmlns:p14="http://schemas.microsoft.com/office/powerpoint/2010/main" val="1915433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4671A-CDD9-4671-B0A6-967EBD47FBFD}"/>
              </a:ext>
            </a:extLst>
          </p:cNvPr>
          <p:cNvSpPr>
            <a:spLocks noGrp="1"/>
          </p:cNvSpPr>
          <p:nvPr>
            <p:ph type="title"/>
          </p:nvPr>
        </p:nvSpPr>
        <p:spPr/>
        <p:txBody>
          <a:bodyPr/>
          <a:lstStyle/>
          <a:p>
            <a:pPr algn="ctr"/>
            <a:r>
              <a:rPr lang="en-US" b="1" dirty="0"/>
              <a:t>INTRODUCTION</a:t>
            </a:r>
            <a:endParaRPr lang="en-IN" b="1" dirty="0"/>
          </a:p>
        </p:txBody>
      </p:sp>
      <p:sp>
        <p:nvSpPr>
          <p:cNvPr id="3" name="Content Placeholder 2">
            <a:extLst>
              <a:ext uri="{FF2B5EF4-FFF2-40B4-BE49-F238E27FC236}">
                <a16:creationId xmlns:a16="http://schemas.microsoft.com/office/drawing/2014/main" id="{E3495480-7FBB-423B-88A1-F53B776F512A}"/>
              </a:ext>
            </a:extLst>
          </p:cNvPr>
          <p:cNvSpPr>
            <a:spLocks noGrp="1"/>
          </p:cNvSpPr>
          <p:nvPr>
            <p:ph idx="1"/>
          </p:nvPr>
        </p:nvSpPr>
        <p:spPr/>
        <p:txBody>
          <a:bodyPr>
            <a:normAutofit lnSpcReduction="10000"/>
          </a:bodyPr>
          <a:lstStyle/>
          <a:p>
            <a:pPr marL="0" indent="0">
              <a:buNone/>
            </a:pPr>
            <a:r>
              <a:rPr lang="en-US" dirty="0"/>
              <a:t>Women and children are most vulnerable in isolated public spaces, where threats often appear without warning. In situations like waiting alone at a bus stop, potential attackers may approach undetected until it is too late to react. Existing safety solutions—such as mobile SOS apps, panic buttons, or self-defense tools—are reactive, require manual activation, and cannot proactively assess danger.</a:t>
            </a:r>
            <a:br>
              <a:rPr lang="en-US" dirty="0"/>
            </a:br>
            <a:r>
              <a:rPr lang="en-US" dirty="0"/>
              <a:t>There is currently no intelligent, wearable device that can scan approaching individuals for </a:t>
            </a:r>
            <a:r>
              <a:rPr lang="en-US" b="1" dirty="0"/>
              <a:t>hostile intent, threatening behavior, or concealed weapons</a:t>
            </a:r>
            <a:r>
              <a:rPr lang="en-US" dirty="0"/>
              <a:t>, and instantly alert both the wearer and emergency responders </a:t>
            </a:r>
            <a:r>
              <a:rPr lang="en-US" b="1" dirty="0"/>
              <a:t>before</a:t>
            </a:r>
            <a:r>
              <a:rPr lang="en-US" dirty="0"/>
              <a:t> an attack occurs. This critical gap leaves countless women and children without a reliable early-warning system that could save lives.</a:t>
            </a:r>
          </a:p>
          <a:p>
            <a:pPr marL="0" indent="0">
              <a:buNone/>
            </a:pPr>
            <a:endParaRPr lang="en-IN" dirty="0"/>
          </a:p>
        </p:txBody>
      </p:sp>
    </p:spTree>
    <p:extLst>
      <p:ext uri="{BB962C8B-B14F-4D97-AF65-F5344CB8AC3E}">
        <p14:creationId xmlns:p14="http://schemas.microsoft.com/office/powerpoint/2010/main" val="2234195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10C6-781E-45A5-AE65-F7BB2072D909}"/>
              </a:ext>
            </a:extLst>
          </p:cNvPr>
          <p:cNvSpPr>
            <a:spLocks noGrp="1"/>
          </p:cNvSpPr>
          <p:nvPr>
            <p:ph type="title"/>
          </p:nvPr>
        </p:nvSpPr>
        <p:spPr/>
        <p:txBody>
          <a:bodyPr/>
          <a:lstStyle/>
          <a:p>
            <a:pPr algn="ctr"/>
            <a:r>
              <a:rPr lang="en-US" b="1" dirty="0"/>
              <a:t>Root cause analysis</a:t>
            </a:r>
            <a:endParaRPr lang="en-IN" b="1" dirty="0"/>
          </a:p>
        </p:txBody>
      </p:sp>
      <p:sp>
        <p:nvSpPr>
          <p:cNvPr id="3" name="Content Placeholder 2">
            <a:extLst>
              <a:ext uri="{FF2B5EF4-FFF2-40B4-BE49-F238E27FC236}">
                <a16:creationId xmlns:a16="http://schemas.microsoft.com/office/drawing/2014/main" id="{1C939367-DD69-4062-9B7E-E4D88F6F1EF9}"/>
              </a:ext>
            </a:extLst>
          </p:cNvPr>
          <p:cNvSpPr>
            <a:spLocks noGrp="1"/>
          </p:cNvSpPr>
          <p:nvPr>
            <p:ph idx="1"/>
          </p:nvPr>
        </p:nvSpPr>
        <p:spPr/>
        <p:txBody>
          <a:bodyPr>
            <a:normAutofit fontScale="47500" lnSpcReduction="20000"/>
          </a:bodyPr>
          <a:lstStyle/>
          <a:p>
            <a:pPr marL="0" indent="0" algn="ctr">
              <a:buNone/>
            </a:pPr>
            <a:r>
              <a:rPr lang="en-US" dirty="0"/>
              <a:t>Problem:</a:t>
            </a:r>
          </a:p>
          <a:p>
            <a:pPr marL="0" indent="0" algn="ctr">
              <a:buNone/>
            </a:pPr>
            <a:r>
              <a:rPr lang="en-US" dirty="0"/>
              <a:t>Women &amp; children face sudden threats in isolated public spaces</a:t>
            </a:r>
          </a:p>
          <a:p>
            <a:pPr marL="0" indent="0" algn="ctr">
              <a:buNone/>
            </a:pPr>
            <a:r>
              <a:rPr lang="en-US" dirty="0"/>
              <a:t>   ↓ Why?</a:t>
            </a:r>
          </a:p>
          <a:p>
            <a:pPr marL="0" indent="0" algn="ctr">
              <a:buNone/>
            </a:pPr>
            <a:r>
              <a:rPr lang="en-US" dirty="0"/>
              <a:t>Attackers can approach unnoticed until it’s too late</a:t>
            </a:r>
          </a:p>
          <a:p>
            <a:pPr marL="0" indent="0" algn="ctr">
              <a:buNone/>
            </a:pPr>
            <a:r>
              <a:rPr lang="en-US" dirty="0"/>
              <a:t>   ↓ Why?</a:t>
            </a:r>
          </a:p>
          <a:p>
            <a:pPr marL="0" indent="0" algn="ctr">
              <a:buNone/>
            </a:pPr>
            <a:r>
              <a:rPr lang="en-US" dirty="0"/>
              <a:t>No system exists to proactively scan and identify threats</a:t>
            </a:r>
          </a:p>
          <a:p>
            <a:pPr marL="0" indent="0" algn="ctr">
              <a:buNone/>
            </a:pPr>
            <a:r>
              <a:rPr lang="en-US" dirty="0"/>
              <a:t>   ↓ Why?</a:t>
            </a:r>
          </a:p>
          <a:p>
            <a:pPr marL="0" indent="0" algn="ctr">
              <a:buNone/>
            </a:pPr>
            <a:r>
              <a:rPr lang="en-US" dirty="0"/>
              <a:t>Current safety devices are reactive &amp; need manual activation</a:t>
            </a:r>
          </a:p>
          <a:p>
            <a:pPr marL="0" indent="0" algn="ctr">
              <a:buNone/>
            </a:pPr>
            <a:r>
              <a:rPr lang="en-US" dirty="0"/>
              <a:t>   ↓ Why?</a:t>
            </a:r>
          </a:p>
          <a:p>
            <a:pPr marL="0" indent="0" algn="ctr">
              <a:buNone/>
            </a:pPr>
            <a:r>
              <a:rPr lang="en-US" dirty="0"/>
              <a:t>They lack AI to monitor speech, facial expressions, weapons in real time</a:t>
            </a:r>
          </a:p>
          <a:p>
            <a:pPr marL="0" indent="0" algn="ctr">
              <a:buNone/>
            </a:pPr>
            <a:r>
              <a:rPr lang="en-US" dirty="0"/>
              <a:t>   ↓ Why?</a:t>
            </a:r>
          </a:p>
          <a:p>
            <a:pPr marL="0" indent="0" algn="ctr">
              <a:buNone/>
            </a:pPr>
            <a:r>
              <a:rPr lang="en-US" dirty="0"/>
              <a:t>Wearables focus on health tracking, not compact safety AI solutions</a:t>
            </a:r>
          </a:p>
          <a:p>
            <a:pPr marL="0" indent="0" algn="ctr">
              <a:buNone/>
            </a:pPr>
            <a:endParaRPr lang="en-US" dirty="0"/>
          </a:p>
          <a:p>
            <a:pPr marL="0" indent="0" algn="ctr">
              <a:buNone/>
            </a:pPr>
            <a:r>
              <a:rPr lang="en-US" dirty="0"/>
              <a:t>ROOT CAUSE:</a:t>
            </a:r>
          </a:p>
          <a:p>
            <a:pPr marL="0" indent="0" algn="ctr">
              <a:buNone/>
            </a:pPr>
            <a:r>
              <a:rPr lang="en-US" dirty="0"/>
              <a:t>Absence of compact, AI-powered proactive threat detection</a:t>
            </a:r>
          </a:p>
          <a:p>
            <a:pPr marL="0" indent="0" algn="ctr">
              <a:buNone/>
            </a:pPr>
            <a:r>
              <a:rPr lang="en-US" dirty="0"/>
              <a:t>→ Critical delay between danger detection and response</a:t>
            </a:r>
          </a:p>
          <a:p>
            <a:endParaRPr lang="en-IN" dirty="0"/>
          </a:p>
        </p:txBody>
      </p:sp>
    </p:spTree>
    <p:extLst>
      <p:ext uri="{BB962C8B-B14F-4D97-AF65-F5344CB8AC3E}">
        <p14:creationId xmlns:p14="http://schemas.microsoft.com/office/powerpoint/2010/main" val="271063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D9E29-3838-4415-B1A0-7D849DFD92CF}"/>
              </a:ext>
            </a:extLst>
          </p:cNvPr>
          <p:cNvSpPr>
            <a:spLocks noGrp="1"/>
          </p:cNvSpPr>
          <p:nvPr>
            <p:ph type="title"/>
          </p:nvPr>
        </p:nvSpPr>
        <p:spPr>
          <a:xfrm>
            <a:off x="2218112" y="2975321"/>
            <a:ext cx="10515600" cy="1325563"/>
          </a:xfrm>
        </p:spPr>
        <p:txBody>
          <a:bodyPr/>
          <a:lstStyle/>
          <a:p>
            <a:r>
              <a:rPr lang="en-IN" b="1" dirty="0"/>
              <a:t>Sensa Band – Prototype Concept</a:t>
            </a:r>
            <a:endParaRPr lang="en-IN" dirty="0"/>
          </a:p>
        </p:txBody>
      </p:sp>
    </p:spTree>
    <p:extLst>
      <p:ext uri="{BB962C8B-B14F-4D97-AF65-F5344CB8AC3E}">
        <p14:creationId xmlns:p14="http://schemas.microsoft.com/office/powerpoint/2010/main" val="66093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2C31D-C1AE-4D83-9D4C-ED0DFE359CA9}"/>
              </a:ext>
            </a:extLst>
          </p:cNvPr>
          <p:cNvSpPr>
            <a:spLocks noGrp="1"/>
          </p:cNvSpPr>
          <p:nvPr>
            <p:ph type="title"/>
          </p:nvPr>
        </p:nvSpPr>
        <p:spPr/>
        <p:txBody>
          <a:bodyPr>
            <a:normAutofit fontScale="90000"/>
          </a:bodyPr>
          <a:lstStyle/>
          <a:p>
            <a:pPr algn="ctr"/>
            <a:br>
              <a:rPr lang="en-IN" b="1" dirty="0"/>
            </a:br>
            <a:r>
              <a:rPr lang="en-IN" b="1" dirty="0"/>
              <a:t>Hardware Components</a:t>
            </a:r>
            <a:br>
              <a:rPr lang="en-IN" b="1" dirty="0"/>
            </a:br>
            <a:endParaRPr lang="en-IN" dirty="0"/>
          </a:p>
        </p:txBody>
      </p:sp>
      <p:sp>
        <p:nvSpPr>
          <p:cNvPr id="3" name="Content Placeholder 2">
            <a:extLst>
              <a:ext uri="{FF2B5EF4-FFF2-40B4-BE49-F238E27FC236}">
                <a16:creationId xmlns:a16="http://schemas.microsoft.com/office/drawing/2014/main" id="{84C1ACA7-1523-4DF0-990C-76CB80D0EBD7}"/>
              </a:ext>
            </a:extLst>
          </p:cNvPr>
          <p:cNvSpPr>
            <a:spLocks noGrp="1"/>
          </p:cNvSpPr>
          <p:nvPr>
            <p:ph idx="1"/>
          </p:nvPr>
        </p:nvSpPr>
        <p:spPr/>
        <p:txBody>
          <a:bodyPr>
            <a:normAutofit fontScale="70000" lnSpcReduction="20000"/>
          </a:bodyPr>
          <a:lstStyle/>
          <a:p>
            <a:pPr marL="0" indent="0">
              <a:buNone/>
            </a:pPr>
            <a:r>
              <a:rPr lang="en-IN" b="1" dirty="0"/>
              <a:t>Form Factor:</a:t>
            </a:r>
            <a:r>
              <a:rPr lang="en-IN" dirty="0"/>
              <a:t> Sleek wristband, lightweight, waterproof, and durable.</a:t>
            </a:r>
          </a:p>
          <a:p>
            <a:pPr marL="0" indent="0">
              <a:buNone/>
            </a:pPr>
            <a:r>
              <a:rPr lang="en-IN" b="1" dirty="0"/>
              <a:t>Core Sensors:</a:t>
            </a:r>
            <a:endParaRPr lang="en-IN" dirty="0"/>
          </a:p>
          <a:p>
            <a:pPr marL="457200" lvl="1" indent="0">
              <a:buNone/>
            </a:pPr>
            <a:r>
              <a:rPr lang="en-IN" b="1" dirty="0"/>
              <a:t>Microphone Array</a:t>
            </a:r>
            <a:r>
              <a:rPr lang="en-IN" dirty="0"/>
              <a:t> – for speech tone analysis &amp; keyword detection.</a:t>
            </a:r>
          </a:p>
          <a:p>
            <a:pPr marL="457200" lvl="1" indent="0">
              <a:buNone/>
            </a:pPr>
            <a:r>
              <a:rPr lang="en-IN" b="1" dirty="0"/>
              <a:t>Mini Camera / IR Sensor</a:t>
            </a:r>
            <a:r>
              <a:rPr lang="en-IN" dirty="0"/>
              <a:t> – for facial expression &amp; </a:t>
            </a:r>
            <a:r>
              <a:rPr lang="en-IN" dirty="0" err="1"/>
              <a:t>behavior</a:t>
            </a:r>
            <a:r>
              <a:rPr lang="en-IN" dirty="0"/>
              <a:t> recognition.</a:t>
            </a:r>
          </a:p>
          <a:p>
            <a:pPr marL="457200" lvl="1" indent="0">
              <a:buNone/>
            </a:pPr>
            <a:r>
              <a:rPr lang="en-IN" b="1" dirty="0" err="1"/>
              <a:t>mmWave</a:t>
            </a:r>
            <a:r>
              <a:rPr lang="en-IN" b="1" dirty="0"/>
              <a:t> / Thermal Sensor</a:t>
            </a:r>
            <a:r>
              <a:rPr lang="en-IN" dirty="0"/>
              <a:t> – for detecting concealed metallic weapons.</a:t>
            </a:r>
          </a:p>
          <a:p>
            <a:pPr marL="457200" lvl="1" indent="0">
              <a:buNone/>
            </a:pPr>
            <a:r>
              <a:rPr lang="en-IN" b="1" dirty="0"/>
              <a:t>Accelerometer + Gyroscope</a:t>
            </a:r>
            <a:r>
              <a:rPr lang="en-IN" dirty="0"/>
              <a:t> – for movement &amp; struggle detection.</a:t>
            </a:r>
          </a:p>
          <a:p>
            <a:pPr marL="457200" lvl="1" indent="0">
              <a:buNone/>
            </a:pPr>
            <a:r>
              <a:rPr lang="en-IN" b="1" dirty="0"/>
              <a:t>Heart Rate Sensor</a:t>
            </a:r>
            <a:r>
              <a:rPr lang="en-IN" dirty="0"/>
              <a:t> – to monitor sudden spikes in the wearer’s stress levels.</a:t>
            </a:r>
          </a:p>
          <a:p>
            <a:pPr marL="0" indent="0">
              <a:buNone/>
            </a:pPr>
            <a:r>
              <a:rPr lang="en-IN" b="1" dirty="0"/>
              <a:t>Alert System:</a:t>
            </a:r>
            <a:endParaRPr lang="en-IN" dirty="0"/>
          </a:p>
          <a:p>
            <a:pPr marL="457200" lvl="1" indent="0">
              <a:buNone/>
            </a:pPr>
            <a:r>
              <a:rPr lang="en-IN" b="1" dirty="0"/>
              <a:t>Tri-</a:t>
            </a:r>
            <a:r>
              <a:rPr lang="en-IN" b="1" dirty="0" err="1"/>
              <a:t>color</a:t>
            </a:r>
            <a:r>
              <a:rPr lang="en-IN" b="1" dirty="0"/>
              <a:t> LED</a:t>
            </a:r>
            <a:r>
              <a:rPr lang="en-IN" dirty="0"/>
              <a:t> – Green (safe), Yellow (caution), Red (danger).</a:t>
            </a:r>
          </a:p>
          <a:p>
            <a:pPr marL="457200" lvl="1" indent="0">
              <a:buNone/>
            </a:pPr>
            <a:r>
              <a:rPr lang="en-IN" b="1" dirty="0"/>
              <a:t>Vibration motor</a:t>
            </a:r>
            <a:r>
              <a:rPr lang="en-IN" dirty="0"/>
              <a:t> – discreet danger alerts.</a:t>
            </a:r>
          </a:p>
          <a:p>
            <a:pPr marL="0" indent="0">
              <a:buNone/>
            </a:pPr>
            <a:r>
              <a:rPr lang="en-IN" b="1" dirty="0"/>
              <a:t>Connectivity:</a:t>
            </a:r>
            <a:endParaRPr lang="en-IN" dirty="0"/>
          </a:p>
          <a:p>
            <a:pPr marL="457200" lvl="1" indent="0">
              <a:buNone/>
            </a:pPr>
            <a:r>
              <a:rPr lang="en-IN" b="1" dirty="0"/>
              <a:t>Bluetooth Low Energy (BLE)</a:t>
            </a:r>
            <a:r>
              <a:rPr lang="en-IN" dirty="0"/>
              <a:t> – to connect with smartphone app.</a:t>
            </a:r>
          </a:p>
          <a:p>
            <a:pPr marL="457200" lvl="1" indent="0">
              <a:buNone/>
            </a:pPr>
            <a:r>
              <a:rPr lang="en-IN" b="1" dirty="0"/>
              <a:t>4G/LTE or </a:t>
            </a:r>
            <a:r>
              <a:rPr lang="en-IN" b="1" dirty="0" err="1"/>
              <a:t>LoRa</a:t>
            </a:r>
            <a:r>
              <a:rPr lang="en-IN" b="1" dirty="0"/>
              <a:t> (optional)</a:t>
            </a:r>
            <a:r>
              <a:rPr lang="en-IN" dirty="0"/>
              <a:t> – for direct police alert without phone dependency.</a:t>
            </a:r>
          </a:p>
          <a:p>
            <a:pPr marL="0" indent="0">
              <a:buNone/>
            </a:pPr>
            <a:r>
              <a:rPr lang="en-IN" b="1" dirty="0"/>
              <a:t>Battery:</a:t>
            </a:r>
            <a:endParaRPr lang="en-IN" dirty="0"/>
          </a:p>
          <a:p>
            <a:pPr marL="457200" lvl="1" indent="0">
              <a:buNone/>
            </a:pPr>
            <a:r>
              <a:rPr lang="en-IN" dirty="0"/>
              <a:t>Rechargeable lithium-polymer battery (5–7 days standby).</a:t>
            </a:r>
          </a:p>
          <a:p>
            <a:pPr marL="0" indent="0">
              <a:buNone/>
            </a:pPr>
            <a:endParaRPr lang="en-IN" dirty="0"/>
          </a:p>
        </p:txBody>
      </p:sp>
    </p:spTree>
    <p:extLst>
      <p:ext uri="{BB962C8B-B14F-4D97-AF65-F5344CB8AC3E}">
        <p14:creationId xmlns:p14="http://schemas.microsoft.com/office/powerpoint/2010/main" val="2136146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9242-C7CC-4B01-B3DE-A7B2282F204A}"/>
              </a:ext>
            </a:extLst>
          </p:cNvPr>
          <p:cNvSpPr>
            <a:spLocks noGrp="1"/>
          </p:cNvSpPr>
          <p:nvPr>
            <p:ph type="title"/>
          </p:nvPr>
        </p:nvSpPr>
        <p:spPr/>
        <p:txBody>
          <a:bodyPr/>
          <a:lstStyle/>
          <a:p>
            <a:pPr algn="ctr"/>
            <a:r>
              <a:rPr lang="en-IN" b="1" dirty="0"/>
              <a:t>Software &amp; AI</a:t>
            </a:r>
            <a:br>
              <a:rPr lang="en-IN" b="1" dirty="0"/>
            </a:br>
            <a:endParaRPr lang="en-IN" dirty="0"/>
          </a:p>
        </p:txBody>
      </p:sp>
      <p:sp>
        <p:nvSpPr>
          <p:cNvPr id="3" name="Content Placeholder 2">
            <a:extLst>
              <a:ext uri="{FF2B5EF4-FFF2-40B4-BE49-F238E27FC236}">
                <a16:creationId xmlns:a16="http://schemas.microsoft.com/office/drawing/2014/main" id="{5A993702-7A27-4776-8B42-F98FF17CD52C}"/>
              </a:ext>
            </a:extLst>
          </p:cNvPr>
          <p:cNvSpPr>
            <a:spLocks noGrp="1"/>
          </p:cNvSpPr>
          <p:nvPr>
            <p:ph idx="1"/>
          </p:nvPr>
        </p:nvSpPr>
        <p:spPr/>
        <p:txBody>
          <a:bodyPr>
            <a:normAutofit fontScale="77500" lnSpcReduction="20000"/>
          </a:bodyPr>
          <a:lstStyle/>
          <a:p>
            <a:pPr marL="0" indent="0">
              <a:buNone/>
            </a:pPr>
            <a:r>
              <a:rPr lang="en-IN" b="1" dirty="0"/>
              <a:t>On-Device AI Models:</a:t>
            </a:r>
            <a:endParaRPr lang="en-IN" dirty="0"/>
          </a:p>
          <a:p>
            <a:pPr marL="457200" lvl="1" indent="0">
              <a:buNone/>
            </a:pPr>
            <a:r>
              <a:rPr lang="en-IN" dirty="0"/>
              <a:t>Speech emotion recognition (threat, aggression, distress).</a:t>
            </a:r>
          </a:p>
          <a:p>
            <a:pPr marL="457200" lvl="1" indent="0">
              <a:buNone/>
            </a:pPr>
            <a:r>
              <a:rPr lang="en-IN" dirty="0"/>
              <a:t>Facial micro-expression analysis.</a:t>
            </a:r>
          </a:p>
          <a:p>
            <a:pPr marL="457200" lvl="1" indent="0">
              <a:buNone/>
            </a:pPr>
            <a:r>
              <a:rPr lang="en-IN" dirty="0"/>
              <a:t>Suspicious movement detection.</a:t>
            </a:r>
          </a:p>
          <a:p>
            <a:pPr marL="457200" lvl="1" indent="0">
              <a:buNone/>
            </a:pPr>
            <a:r>
              <a:rPr lang="en-IN" dirty="0"/>
              <a:t>Weapon detection using thermal/</a:t>
            </a:r>
            <a:r>
              <a:rPr lang="en-IN" dirty="0" err="1"/>
              <a:t>mmWave</a:t>
            </a:r>
            <a:r>
              <a:rPr lang="en-IN" dirty="0"/>
              <a:t> patterns.</a:t>
            </a:r>
          </a:p>
          <a:p>
            <a:pPr marL="0" indent="0">
              <a:buNone/>
            </a:pPr>
            <a:r>
              <a:rPr lang="en-IN" b="1" dirty="0"/>
              <a:t>Cloud Processing:</a:t>
            </a:r>
            <a:endParaRPr lang="en-IN" dirty="0"/>
          </a:p>
          <a:p>
            <a:pPr marL="457200" lvl="1" indent="0">
              <a:buNone/>
            </a:pPr>
            <a:r>
              <a:rPr lang="en-IN" dirty="0"/>
              <a:t>For advanced analysis &amp; pattern updates.</a:t>
            </a:r>
          </a:p>
          <a:p>
            <a:pPr marL="0" indent="0">
              <a:buNone/>
            </a:pPr>
            <a:r>
              <a:rPr lang="en-IN" b="1" dirty="0"/>
              <a:t>Mobile App Dashboard:</a:t>
            </a:r>
            <a:endParaRPr lang="en-IN" dirty="0"/>
          </a:p>
          <a:p>
            <a:pPr marL="457200" lvl="1" indent="0">
              <a:buNone/>
            </a:pPr>
            <a:r>
              <a:rPr lang="en-IN" dirty="0"/>
              <a:t>Live status indicator.</a:t>
            </a:r>
          </a:p>
          <a:p>
            <a:pPr marL="457200" lvl="1" indent="0">
              <a:buNone/>
            </a:pPr>
            <a:r>
              <a:rPr lang="en-IN" dirty="0"/>
              <a:t>Emergency contact setup.</a:t>
            </a:r>
          </a:p>
          <a:p>
            <a:pPr marL="457200" lvl="1" indent="0">
              <a:buNone/>
            </a:pPr>
            <a:r>
              <a:rPr lang="en-IN" dirty="0"/>
              <a:t>Location tracking &amp; history logs.</a:t>
            </a:r>
          </a:p>
          <a:p>
            <a:pPr marL="0" indent="0">
              <a:buNone/>
            </a:pPr>
            <a:r>
              <a:rPr lang="en-IN" b="1" dirty="0"/>
              <a:t>SOS Automation:</a:t>
            </a:r>
            <a:endParaRPr lang="en-IN" dirty="0"/>
          </a:p>
          <a:p>
            <a:pPr marL="457200" lvl="1" indent="0">
              <a:buNone/>
            </a:pPr>
            <a:r>
              <a:rPr lang="en-IN" dirty="0"/>
              <a:t>On danger detection → Sends GPS location &amp; alert to:</a:t>
            </a:r>
          </a:p>
          <a:p>
            <a:pPr marL="914400" lvl="2" indent="0">
              <a:buNone/>
            </a:pPr>
            <a:r>
              <a:rPr lang="en-IN" dirty="0"/>
              <a:t>2 emergency contacts.</a:t>
            </a:r>
          </a:p>
          <a:p>
            <a:pPr marL="914400" lvl="2" indent="0">
              <a:buNone/>
            </a:pPr>
            <a:r>
              <a:rPr lang="en-IN" dirty="0"/>
              <a:t>Nearby police control room.</a:t>
            </a:r>
          </a:p>
          <a:p>
            <a:pPr marL="0" indent="0">
              <a:buNone/>
            </a:pPr>
            <a:endParaRPr lang="en-IN" dirty="0"/>
          </a:p>
        </p:txBody>
      </p:sp>
    </p:spTree>
    <p:extLst>
      <p:ext uri="{BB962C8B-B14F-4D97-AF65-F5344CB8AC3E}">
        <p14:creationId xmlns:p14="http://schemas.microsoft.com/office/powerpoint/2010/main" val="1562886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6A193-787F-40AF-80DA-9002D86E1664}"/>
              </a:ext>
            </a:extLst>
          </p:cNvPr>
          <p:cNvSpPr>
            <a:spLocks noGrp="1"/>
          </p:cNvSpPr>
          <p:nvPr>
            <p:ph type="title"/>
          </p:nvPr>
        </p:nvSpPr>
        <p:spPr/>
        <p:txBody>
          <a:bodyPr/>
          <a:lstStyle/>
          <a:p>
            <a:pPr algn="ctr"/>
            <a:r>
              <a:rPr lang="en-US" b="1" dirty="0"/>
              <a:t>Operation Flow</a:t>
            </a:r>
            <a:br>
              <a:rPr lang="en-US" b="1" dirty="0"/>
            </a:br>
            <a:endParaRPr lang="en-IN" dirty="0"/>
          </a:p>
        </p:txBody>
      </p:sp>
      <p:sp>
        <p:nvSpPr>
          <p:cNvPr id="3" name="Content Placeholder 2">
            <a:extLst>
              <a:ext uri="{FF2B5EF4-FFF2-40B4-BE49-F238E27FC236}">
                <a16:creationId xmlns:a16="http://schemas.microsoft.com/office/drawing/2014/main" id="{7E400F0F-CA09-4C03-A27A-6CC06D49125C}"/>
              </a:ext>
            </a:extLst>
          </p:cNvPr>
          <p:cNvSpPr>
            <a:spLocks noGrp="1"/>
          </p:cNvSpPr>
          <p:nvPr>
            <p:ph idx="1"/>
          </p:nvPr>
        </p:nvSpPr>
        <p:spPr/>
        <p:txBody>
          <a:bodyPr>
            <a:normAutofit/>
          </a:bodyPr>
          <a:lstStyle/>
          <a:p>
            <a:pPr marL="0" indent="0">
              <a:buNone/>
            </a:pPr>
            <a:r>
              <a:rPr lang="en-US" b="1" dirty="0"/>
              <a:t>Idle Mode:</a:t>
            </a:r>
            <a:r>
              <a:rPr lang="en-US" dirty="0"/>
              <a:t> Constant passive scanning of surroundings within ~3–5 meters.</a:t>
            </a:r>
          </a:p>
          <a:p>
            <a:pPr marL="0" indent="0">
              <a:buNone/>
            </a:pPr>
            <a:r>
              <a:rPr lang="en-US" b="1" dirty="0"/>
              <a:t>Detection Mode:</a:t>
            </a:r>
            <a:r>
              <a:rPr lang="en-US" dirty="0"/>
              <a:t> If strangers approach → speech &amp; movement analysis.</a:t>
            </a:r>
          </a:p>
          <a:p>
            <a:pPr marL="0" indent="0">
              <a:buNone/>
            </a:pPr>
            <a:r>
              <a:rPr lang="en-US" b="1" dirty="0"/>
              <a:t>Threat Confirmation:</a:t>
            </a:r>
            <a:r>
              <a:rPr lang="en-US" dirty="0"/>
              <a:t> If aggressive speech, hostile facial cues, or weapon is detected → LED turns red + vibration alert.</a:t>
            </a:r>
          </a:p>
          <a:p>
            <a:pPr marL="0" indent="0">
              <a:buNone/>
            </a:pPr>
            <a:r>
              <a:rPr lang="en-US" b="1" dirty="0"/>
              <a:t>Emergency Mode:</a:t>
            </a:r>
            <a:r>
              <a:rPr lang="en-US" dirty="0"/>
              <a:t> Sends SOS with location to pre-set contacts + police.</a:t>
            </a:r>
          </a:p>
          <a:p>
            <a:pPr marL="0" indent="0">
              <a:buNone/>
            </a:pPr>
            <a:r>
              <a:rPr lang="en-US" b="1" dirty="0"/>
              <a:t>Post-Event Log:</a:t>
            </a:r>
            <a:r>
              <a:rPr lang="en-US" dirty="0"/>
              <a:t> Incident stored for later review.</a:t>
            </a:r>
          </a:p>
          <a:p>
            <a:pPr marL="0" indent="0">
              <a:buNone/>
            </a:pPr>
            <a:endParaRPr lang="en-IN" dirty="0"/>
          </a:p>
        </p:txBody>
      </p:sp>
    </p:spTree>
    <p:extLst>
      <p:ext uri="{BB962C8B-B14F-4D97-AF65-F5344CB8AC3E}">
        <p14:creationId xmlns:p14="http://schemas.microsoft.com/office/powerpoint/2010/main" val="1065560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878F9-293A-4C20-9D20-35784A7D95EA}"/>
              </a:ext>
            </a:extLst>
          </p:cNvPr>
          <p:cNvSpPr>
            <a:spLocks noGrp="1"/>
          </p:cNvSpPr>
          <p:nvPr>
            <p:ph type="title"/>
          </p:nvPr>
        </p:nvSpPr>
        <p:spPr/>
        <p:txBody>
          <a:bodyPr/>
          <a:lstStyle/>
          <a:p>
            <a:pPr algn="ctr"/>
            <a:r>
              <a:rPr lang="en-US" b="1" dirty="0"/>
              <a:t>PROTOTYPE</a:t>
            </a:r>
            <a:endParaRPr lang="en-IN" b="1" dirty="0"/>
          </a:p>
        </p:txBody>
      </p:sp>
      <p:pic>
        <p:nvPicPr>
          <p:cNvPr id="5" name="Content Placeholder 4">
            <a:extLst>
              <a:ext uri="{FF2B5EF4-FFF2-40B4-BE49-F238E27FC236}">
                <a16:creationId xmlns:a16="http://schemas.microsoft.com/office/drawing/2014/main" id="{A574CA4D-CD2C-4DC9-BFDB-A3A0BD06F0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90688"/>
            <a:ext cx="5486400" cy="4351338"/>
          </a:xfrm>
        </p:spPr>
      </p:pic>
      <p:pic>
        <p:nvPicPr>
          <p:cNvPr id="7" name="Picture 6">
            <a:extLst>
              <a:ext uri="{FF2B5EF4-FFF2-40B4-BE49-F238E27FC236}">
                <a16:creationId xmlns:a16="http://schemas.microsoft.com/office/drawing/2014/main" id="{0EBE409A-695B-4B4C-B973-8D07D3698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90688"/>
            <a:ext cx="5486400" cy="4351338"/>
          </a:xfrm>
          <a:prstGeom prst="rect">
            <a:avLst/>
          </a:prstGeom>
        </p:spPr>
      </p:pic>
    </p:spTree>
    <p:extLst>
      <p:ext uri="{BB962C8B-B14F-4D97-AF65-F5344CB8AC3E}">
        <p14:creationId xmlns:p14="http://schemas.microsoft.com/office/powerpoint/2010/main" val="3753610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F642A-8CE8-4E0B-9B73-DCEAAA3C1944}"/>
              </a:ext>
            </a:extLst>
          </p:cNvPr>
          <p:cNvSpPr>
            <a:spLocks noGrp="1"/>
          </p:cNvSpPr>
          <p:nvPr>
            <p:ph idx="1"/>
          </p:nvPr>
        </p:nvSpPr>
        <p:spPr/>
        <p:txBody>
          <a:bodyPr>
            <a:normAutofit/>
          </a:bodyPr>
          <a:lstStyle/>
          <a:p>
            <a:pPr marL="0" indent="0" algn="ctr">
              <a:buNone/>
            </a:pPr>
            <a:r>
              <a:rPr lang="en-US" sz="9600" dirty="0"/>
              <a:t>THANK </a:t>
            </a:r>
          </a:p>
          <a:p>
            <a:pPr marL="0" indent="0" algn="ctr">
              <a:buNone/>
            </a:pPr>
            <a:r>
              <a:rPr lang="en-US" sz="9600" dirty="0"/>
              <a:t>YOU</a:t>
            </a:r>
            <a:endParaRPr lang="en-IN" sz="9600" dirty="0"/>
          </a:p>
        </p:txBody>
      </p:sp>
    </p:spTree>
    <p:extLst>
      <p:ext uri="{BB962C8B-B14F-4D97-AF65-F5344CB8AC3E}">
        <p14:creationId xmlns:p14="http://schemas.microsoft.com/office/powerpoint/2010/main" val="1648705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543</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Sensa Band </vt:lpstr>
      <vt:lpstr>PROBLEM STATEMENT</vt:lpstr>
      <vt:lpstr>INTRODUCTION</vt:lpstr>
      <vt:lpstr>Root cause analysis</vt:lpstr>
      <vt:lpstr>Sensa Band – Prototype Concept</vt:lpstr>
      <vt:lpstr> Hardware Components </vt:lpstr>
      <vt:lpstr>Software &amp; AI </vt:lpstr>
      <vt:lpstr>Operation Flow </vt:lpstr>
      <vt:lpstr>PROTOTYPE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 Band</dc:title>
  <dc:creator>Bhumikaa Balamurali</dc:creator>
  <cp:lastModifiedBy>Bhumikaa Balamurali</cp:lastModifiedBy>
  <cp:revision>3</cp:revision>
  <dcterms:created xsi:type="dcterms:W3CDTF">2025-08-13T02:31:41Z</dcterms:created>
  <dcterms:modified xsi:type="dcterms:W3CDTF">2025-08-13T13:48:31Z</dcterms:modified>
</cp:coreProperties>
</file>