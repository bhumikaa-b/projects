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1" r:id="rId2"/>
    <p:sldMasterId id="2147483655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5" r:id="rId8"/>
    <p:sldId id="299" r:id="rId9"/>
    <p:sldId id="300" r:id="rId10"/>
    <p:sldId id="285" r:id="rId11"/>
    <p:sldId id="297" r:id="rId12"/>
    <p:sldId id="298" r:id="rId1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094AE-1C60-4506-9866-214E82666B26}" v="16" dt="2024-09-14T06:47:21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75458041-BCC9-4D92-9490-8AF60C00983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5524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E26C6D06-6A68-4FCA-8E86-84C6A4BCE96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603313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그림 개체 틀 2">
            <a:extLst>
              <a:ext uri="{FF2B5EF4-FFF2-40B4-BE49-F238E27FC236}">
                <a16:creationId xmlns:a16="http://schemas.microsoft.com/office/drawing/2014/main" id="{7EA72833-AD93-4833-9A2D-CEDAD0BA74B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01102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3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E974C75D-D81B-497C-9C4E-F1BB2C01057A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16308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4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DDBCD3-13D8-4B61-A324-65F1C4F838CB}"/>
              </a:ext>
            </a:extLst>
          </p:cNvPr>
          <p:cNvSpPr/>
          <p:nvPr userDrawn="1"/>
        </p:nvSpPr>
        <p:spPr>
          <a:xfrm>
            <a:off x="3397776" y="2717708"/>
            <a:ext cx="8794226" cy="2404870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7C1F53F-D199-4227-A23E-2B5F143EB982}"/>
              </a:ext>
            </a:extLst>
          </p:cNvPr>
          <p:cNvGrpSpPr/>
          <p:nvPr userDrawn="1"/>
        </p:nvGrpSpPr>
        <p:grpSpPr>
          <a:xfrm>
            <a:off x="733478" y="1571013"/>
            <a:ext cx="2664296" cy="4683693"/>
            <a:chOff x="445712" y="1449040"/>
            <a:chExt cx="2113018" cy="3924176"/>
          </a:xfrm>
        </p:grpSpPr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4B09402C-7E86-41C9-8E37-9EF71EDF1056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1DF11FE-4210-4E1A-AAC1-AD2FF969D36A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E578CC1-F58F-4C71-AB27-A73396D54EA3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7">
                <a:extLst>
                  <a:ext uri="{FF2B5EF4-FFF2-40B4-BE49-F238E27FC236}">
                    <a16:creationId xmlns:a16="http://schemas.microsoft.com/office/drawing/2014/main" id="{FF38739C-F2ED-4F4B-9A89-B33A3B4C6A3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8">
                <a:extLst>
                  <a:ext uri="{FF2B5EF4-FFF2-40B4-BE49-F238E27FC236}">
                    <a16:creationId xmlns:a16="http://schemas.microsoft.com/office/drawing/2014/main" id="{42258DA3-8567-4D16-9190-D371531398A8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BFDD25E-3936-4728-A24A-3CD8211A0ED0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21396" y="1982583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3ED7D35-2C36-4F32-8052-655C68EBB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EA604A-1015-4952-8EE1-CCE52EC0E000}"/>
              </a:ext>
            </a:extLst>
          </p:cNvPr>
          <p:cNvGrpSpPr/>
          <p:nvPr userDrawn="1"/>
        </p:nvGrpSpPr>
        <p:grpSpPr>
          <a:xfrm>
            <a:off x="3095065" y="1780189"/>
            <a:ext cx="6001870" cy="3297621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9EEB588-97F3-4BF3-B3B2-294329E14315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9AC13C8-EB64-4309-9F83-DE884AB194A4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A07D5B-242A-465B-B3D3-285BCC724958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5AF579-3200-4645-9B4A-C34A0B00A828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BBA6078-E1D1-4C14-AE2A-562D30932050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0F2DB06-6191-4D99-A246-B0F044EEB6D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0B2AB32-6E87-4708-AD26-26A3474DFD68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44A0B59C-D502-416F-87A9-4FFE2F84014E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DAEF2E-9E44-473D-B13F-ABD8FD196480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7A63B6A-A2C7-42FA-A975-B2C3DBEA0A1D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25CD56A-8303-4E00-957E-0BF842A3B05F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42D482D-A042-4240-A15D-1E65B56B30D2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36F31BD-D2C3-4C53-B8E6-33C74563614F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909754" y="1947860"/>
            <a:ext cx="4372493" cy="26694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9D8BBD3D-237B-4299-A310-B537C2DF7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8" r:id="rId6"/>
    <p:sldLayoutId id="2147483680" r:id="rId7"/>
    <p:sldLayoutId id="2147483681" r:id="rId8"/>
    <p:sldLayoutId id="2147483682" r:id="rId9"/>
    <p:sldLayoutId id="2147483684" r:id="rId10"/>
    <p:sldLayoutId id="2147483686" r:id="rId11"/>
    <p:sldLayoutId id="2147483689" r:id="rId12"/>
    <p:sldLayoutId id="2147483687" r:id="rId13"/>
    <p:sldLayoutId id="2147483688" r:id="rId14"/>
    <p:sldLayoutId id="2147483671" r:id="rId15"/>
    <p:sldLayoutId id="2147483672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>
            <a:hlinkClick r:id="rId2"/>
          </p:cNvPr>
          <p:cNvSpPr txBox="1"/>
          <p:nvPr/>
        </p:nvSpPr>
        <p:spPr>
          <a:xfrm>
            <a:off x="-1" y="6467568"/>
            <a:ext cx="12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Calibri"/>
              <a:buNone/>
            </a:pPr>
            <a:r>
              <a:rPr lang="en-US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http://www.free-powerpoint-templates-design.com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536324" y="177234"/>
            <a:ext cx="5481017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IN" sz="54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WOMEN SAFETY APPLICATION</a:t>
            </a:r>
            <a:endParaRPr sz="54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536399" y="2838597"/>
            <a:ext cx="51150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rPr lang="en-US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1605</a:t>
            </a:r>
            <a:endParaRPr sz="1867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35DF5A-333A-3759-6BA4-EC41B055D746}"/>
              </a:ext>
            </a:extLst>
          </p:cNvPr>
          <p:cNvSpPr txBox="1"/>
          <p:nvPr/>
        </p:nvSpPr>
        <p:spPr>
          <a:xfrm>
            <a:off x="10517940" y="6144402"/>
            <a:ext cx="2733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BHUMIKAA B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900573" y="1099114"/>
            <a:ext cx="4777152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altLang="ko-KR" sz="3200" b="1" dirty="0">
                <a:gradFill flip="none" rotWithShape="1">
                  <a:gsLst>
                    <a:gs pos="0">
                      <a:schemeClr val="accent1"/>
                    </a:gs>
                    <a:gs pos="70000">
                      <a:schemeClr val="accent3"/>
                    </a:gs>
                    <a:gs pos="35000">
                      <a:schemeClr val="accent2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AN APPROACH TOWARDS</a:t>
            </a:r>
          </a:p>
          <a:p>
            <a:r>
              <a:rPr lang="en-IN" altLang="ko-KR" sz="3200" b="1" dirty="0">
                <a:gradFill flip="none" rotWithShape="1">
                  <a:gsLst>
                    <a:gs pos="0">
                      <a:schemeClr val="accent1"/>
                    </a:gs>
                    <a:gs pos="70000">
                      <a:schemeClr val="accent3"/>
                    </a:gs>
                    <a:gs pos="35000">
                      <a:schemeClr val="accent2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WOMEN SAFETY</a:t>
            </a:r>
            <a:endParaRPr lang="ko-KR" altLang="en-US" sz="3200" b="1" dirty="0">
              <a:gradFill flip="none" rotWithShape="1">
                <a:gsLst>
                  <a:gs pos="0">
                    <a:schemeClr val="accent1"/>
                  </a:gs>
                  <a:gs pos="70000">
                    <a:schemeClr val="accent3"/>
                  </a:gs>
                  <a:gs pos="35000">
                    <a:schemeClr val="accent2"/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5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D6579FB-80AA-4EBF-AE14-BA4BC4C2CF12}"/>
              </a:ext>
            </a:extLst>
          </p:cNvPr>
          <p:cNvSpPr txBox="1"/>
          <p:nvPr/>
        </p:nvSpPr>
        <p:spPr>
          <a:xfrm>
            <a:off x="1783803" y="4825001"/>
            <a:ext cx="380706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4800" b="1">
                <a:gradFill flip="none" rotWithShape="1">
                  <a:gsLst>
                    <a:gs pos="0">
                      <a:schemeClr val="accent1"/>
                    </a:gs>
                    <a:gs pos="70000">
                      <a:schemeClr val="accent3"/>
                    </a:gs>
                    <a:gs pos="35000">
                      <a:schemeClr val="accent2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+mj-lt"/>
                <a:cs typeface="Arial" pitchFamily="34" charset="0"/>
              </a:defRPr>
            </a:lvl1pPr>
          </a:lstStyle>
          <a:p>
            <a:pPr algn="r"/>
            <a:r>
              <a:rPr lang="en-US" altLang="ko-KR" sz="3600" dirty="0">
                <a:gradFill flip="none" rotWithShape="1">
                  <a:gsLst>
                    <a:gs pos="0">
                      <a:schemeClr val="accent1"/>
                    </a:gs>
                    <a:gs pos="70000">
                      <a:schemeClr val="accent3"/>
                    </a:gs>
                    <a:gs pos="35000">
                      <a:schemeClr val="accent2"/>
                    </a:gs>
                    <a:gs pos="100000">
                      <a:schemeClr val="accent4"/>
                    </a:gs>
                  </a:gsLst>
                  <a:lin ang="10800000" scaled="1"/>
                  <a:tileRect/>
                </a:gradFill>
              </a:rPr>
              <a:t>PROBLEM STATEMENT</a:t>
            </a:r>
            <a:endParaRPr lang="ko-KR" altLang="en-US" sz="3600" dirty="0">
              <a:gradFill flip="none" rotWithShape="1">
                <a:gsLst>
                  <a:gs pos="0">
                    <a:schemeClr val="accent1"/>
                  </a:gs>
                  <a:gs pos="70000">
                    <a:schemeClr val="accent3"/>
                  </a:gs>
                  <a:gs pos="35000">
                    <a:schemeClr val="accent2"/>
                  </a:gs>
                  <a:gs pos="100000">
                    <a:schemeClr val="accent4"/>
                  </a:gs>
                </a:gsLst>
                <a:lin ang="10800000" scaled="1"/>
                <a:tileRect/>
              </a:gra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49075D-0947-4AB5-83A0-EFFE0AAF6281}"/>
              </a:ext>
            </a:extLst>
          </p:cNvPr>
          <p:cNvGrpSpPr/>
          <p:nvPr/>
        </p:nvGrpSpPr>
        <p:grpSpPr>
          <a:xfrm>
            <a:off x="568311" y="718621"/>
            <a:ext cx="9794889" cy="2987378"/>
            <a:chOff x="-4412317" y="951079"/>
            <a:chExt cx="9794889" cy="29873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3F24E8-45A3-4924-A003-288F30497EBE}"/>
                </a:ext>
              </a:extLst>
            </p:cNvPr>
            <p:cNvSpPr txBox="1"/>
            <p:nvPr/>
          </p:nvSpPr>
          <p:spPr>
            <a:xfrm>
              <a:off x="1797648" y="951079"/>
              <a:ext cx="3488745" cy="33855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ADEF56-3484-4EDD-BDC1-83ED7F31934C}"/>
                </a:ext>
              </a:extLst>
            </p:cNvPr>
            <p:cNvSpPr txBox="1"/>
            <p:nvPr/>
          </p:nvSpPr>
          <p:spPr>
            <a:xfrm>
              <a:off x="1683250" y="1424213"/>
              <a:ext cx="3699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Wingdings" panose="05000000000000000000" pitchFamily="2" charset="2"/>
                <a:buChar char="Ø"/>
              </a:pPr>
              <a:r>
                <a:rPr lang="en-US" sz="1200" b="0" i="0" dirty="0">
                  <a:solidFill>
                    <a:srgbClr val="212529"/>
                  </a:solidFill>
                  <a:effectLst/>
                  <a:latin typeface="montserratregular"/>
                </a:rPr>
                <a:t> </a:t>
              </a:r>
              <a:r>
                <a:rPr lang="en-US" sz="1600" b="0" i="0" dirty="0">
                  <a:solidFill>
                    <a:srgbClr val="212529"/>
                  </a:solidFill>
                  <a:effectLst/>
                  <a:latin typeface="montserratregular"/>
                </a:rPr>
                <a:t>The need for advanced surveillance and analytical solutions to protect women from various possible threats.</a:t>
              </a:r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B09C71-B12E-4E2D-993D-89F4E6CA5AF1}"/>
                </a:ext>
              </a:extLst>
            </p:cNvPr>
            <p:cNvSpPr txBox="1"/>
            <p:nvPr/>
          </p:nvSpPr>
          <p:spPr>
            <a:xfrm>
              <a:off x="-4412317" y="3661458"/>
              <a:ext cx="3119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03CDB2-CE3F-4010-AC14-F00B6E1FF049}"/>
              </a:ext>
            </a:extLst>
          </p:cNvPr>
          <p:cNvCxnSpPr>
            <a:cxnSpLocks/>
          </p:cNvCxnSpPr>
          <p:nvPr/>
        </p:nvCxnSpPr>
        <p:spPr>
          <a:xfrm flipV="1">
            <a:off x="6538490" y="1103341"/>
            <a:ext cx="4328802" cy="26860"/>
          </a:xfrm>
          <a:prstGeom prst="line">
            <a:avLst/>
          </a:prstGeom>
          <a:ln w="254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BFED855-6F48-41D9-B0D2-D691F56D852E}"/>
              </a:ext>
            </a:extLst>
          </p:cNvPr>
          <p:cNvSpPr/>
          <p:nvPr/>
        </p:nvSpPr>
        <p:spPr>
          <a:xfrm>
            <a:off x="5885724" y="797032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9C16D-3D41-4840-A60D-52E7B1E94B78}"/>
              </a:ext>
            </a:extLst>
          </p:cNvPr>
          <p:cNvSpPr txBox="1"/>
          <p:nvPr/>
        </p:nvSpPr>
        <p:spPr>
          <a:xfrm>
            <a:off x="5925453" y="895350"/>
            <a:ext cx="566763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E22340-0EF6-44C8-BA21-56FA1854B2D2}"/>
              </a:ext>
            </a:extLst>
          </p:cNvPr>
          <p:cNvGrpSpPr/>
          <p:nvPr/>
        </p:nvGrpSpPr>
        <p:grpSpPr>
          <a:xfrm>
            <a:off x="385267" y="2154753"/>
            <a:ext cx="9881754" cy="1996990"/>
            <a:chOff x="-4595361" y="951079"/>
            <a:chExt cx="9881754" cy="199699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681D34-0E05-45D7-911D-3394E94171BE}"/>
                </a:ext>
              </a:extLst>
            </p:cNvPr>
            <p:cNvSpPr txBox="1"/>
            <p:nvPr/>
          </p:nvSpPr>
          <p:spPr>
            <a:xfrm>
              <a:off x="1797648" y="951079"/>
              <a:ext cx="3488745" cy="33855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B1041F-41EC-4135-B183-BAFCB41843FC}"/>
                </a:ext>
              </a:extLst>
            </p:cNvPr>
            <p:cNvSpPr txBox="1"/>
            <p:nvPr/>
          </p:nvSpPr>
          <p:spPr>
            <a:xfrm>
              <a:off x="-4595361" y="2671070"/>
              <a:ext cx="3119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E9BE7A2-1105-483B-8A09-688962C855EC}"/>
                </a:ext>
              </a:extLst>
            </p:cNvPr>
            <p:cNvSpPr txBox="1"/>
            <p:nvPr/>
          </p:nvSpPr>
          <p:spPr>
            <a:xfrm>
              <a:off x="1360985" y="1321238"/>
              <a:ext cx="39254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85800" lvl="1" indent="-228600">
                <a:buFont typeface="Wingdings" panose="05000000000000000000" pitchFamily="2" charset="2"/>
                <a:buChar char="Ø"/>
              </a:pPr>
              <a:r>
                <a:rPr lang="en-US" sz="1600" b="0" i="0" dirty="0">
                  <a:solidFill>
                    <a:srgbClr val="212529"/>
                  </a:solidFill>
                  <a:effectLst/>
                  <a:latin typeface="montserratregular"/>
                </a:rPr>
                <a:t>Leveraging advanced analytics through real-time monitoring, Women Safety Analytics should create safer environments for women.</a:t>
              </a:r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8215D2-BAF6-4493-ABCA-4F0EBAF0E035}"/>
              </a:ext>
            </a:extLst>
          </p:cNvPr>
          <p:cNvCxnSpPr>
            <a:cxnSpLocks/>
          </p:cNvCxnSpPr>
          <p:nvPr/>
        </p:nvCxnSpPr>
        <p:spPr>
          <a:xfrm flipV="1">
            <a:off x="6531945" y="2381186"/>
            <a:ext cx="4328802" cy="26860"/>
          </a:xfrm>
          <a:prstGeom prst="line">
            <a:avLst/>
          </a:prstGeom>
          <a:ln w="254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0E17FBE-7D1C-48B3-B0D9-6B0DA2A91441}"/>
              </a:ext>
            </a:extLst>
          </p:cNvPr>
          <p:cNvSpPr/>
          <p:nvPr/>
        </p:nvSpPr>
        <p:spPr>
          <a:xfrm>
            <a:off x="5885724" y="2233164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8D30A2-DC8D-4076-AD6B-50356C9CC4BB}"/>
              </a:ext>
            </a:extLst>
          </p:cNvPr>
          <p:cNvSpPr txBox="1"/>
          <p:nvPr/>
        </p:nvSpPr>
        <p:spPr>
          <a:xfrm>
            <a:off x="5925453" y="2331482"/>
            <a:ext cx="566763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EB557C-8034-4B67-AB80-97D1106E44AE}"/>
              </a:ext>
            </a:extLst>
          </p:cNvPr>
          <p:cNvGrpSpPr/>
          <p:nvPr/>
        </p:nvGrpSpPr>
        <p:grpSpPr>
          <a:xfrm>
            <a:off x="391635" y="2598003"/>
            <a:ext cx="9875386" cy="1331436"/>
            <a:chOff x="-4588993" y="-41803"/>
            <a:chExt cx="9875386" cy="133143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73EA6B-DC86-4383-B7AA-A8A1324174E9}"/>
                </a:ext>
              </a:extLst>
            </p:cNvPr>
            <p:cNvSpPr txBox="1"/>
            <p:nvPr/>
          </p:nvSpPr>
          <p:spPr>
            <a:xfrm>
              <a:off x="1797648" y="951079"/>
              <a:ext cx="3488745" cy="33855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6C7770-AC88-4226-99FD-A27865909D5B}"/>
                </a:ext>
              </a:extLst>
            </p:cNvPr>
            <p:cNvSpPr txBox="1"/>
            <p:nvPr/>
          </p:nvSpPr>
          <p:spPr>
            <a:xfrm>
              <a:off x="-3468600" y="481949"/>
              <a:ext cx="3119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Wingdings" panose="05000000000000000000" pitchFamily="2" charset="2"/>
                <a:buChar char="Ø"/>
              </a:pP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73AE10-030C-4E45-AB19-F1F6ED6987C6}"/>
                </a:ext>
              </a:extLst>
            </p:cNvPr>
            <p:cNvSpPr txBox="1"/>
            <p:nvPr/>
          </p:nvSpPr>
          <p:spPr>
            <a:xfrm>
              <a:off x="-4588993" y="-41803"/>
              <a:ext cx="31190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F5D44E-6C4E-4F0D-8635-04D8B9510A61}"/>
              </a:ext>
            </a:extLst>
          </p:cNvPr>
          <p:cNvCxnSpPr>
            <a:cxnSpLocks/>
          </p:cNvCxnSpPr>
          <p:nvPr/>
        </p:nvCxnSpPr>
        <p:spPr>
          <a:xfrm flipV="1">
            <a:off x="6578219" y="4013243"/>
            <a:ext cx="4328802" cy="26860"/>
          </a:xfrm>
          <a:prstGeom prst="line">
            <a:avLst/>
          </a:prstGeom>
          <a:ln w="2540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6FBECFC-D70E-40B6-BBE9-64B1EFF72164}"/>
              </a:ext>
            </a:extLst>
          </p:cNvPr>
          <p:cNvSpPr/>
          <p:nvPr/>
        </p:nvSpPr>
        <p:spPr>
          <a:xfrm>
            <a:off x="5885724" y="3669296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4DA8BF-A5B1-4A36-833F-3165BB8570C7}"/>
              </a:ext>
            </a:extLst>
          </p:cNvPr>
          <p:cNvSpPr txBox="1"/>
          <p:nvPr/>
        </p:nvSpPr>
        <p:spPr>
          <a:xfrm>
            <a:off x="5925453" y="3767614"/>
            <a:ext cx="566763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CC878EC-25BD-4655-9CC8-F05242106B18}"/>
              </a:ext>
            </a:extLst>
          </p:cNvPr>
          <p:cNvGrpSpPr/>
          <p:nvPr/>
        </p:nvGrpSpPr>
        <p:grpSpPr>
          <a:xfrm>
            <a:off x="6769166" y="4202700"/>
            <a:ext cx="3488745" cy="2409154"/>
            <a:chOff x="1797648" y="126763"/>
            <a:chExt cx="3488745" cy="240915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6D3EDCC-FE4E-470F-B499-59956048BEAF}"/>
                </a:ext>
              </a:extLst>
            </p:cNvPr>
            <p:cNvSpPr txBox="1"/>
            <p:nvPr/>
          </p:nvSpPr>
          <p:spPr>
            <a:xfrm>
              <a:off x="1797648" y="951079"/>
              <a:ext cx="3488745" cy="33855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7D7B99-90F2-4ED1-9A91-6B7DD677798A}"/>
                </a:ext>
              </a:extLst>
            </p:cNvPr>
            <p:cNvSpPr txBox="1"/>
            <p:nvPr/>
          </p:nvSpPr>
          <p:spPr>
            <a:xfrm>
              <a:off x="1973398" y="126763"/>
              <a:ext cx="311902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Wingdings" panose="05000000000000000000" pitchFamily="2" charset="2"/>
                <a:buChar char="Ø"/>
              </a:pPr>
              <a:r>
                <a:rPr lang="en-US" sz="1600" b="0" i="0" dirty="0">
                  <a:solidFill>
                    <a:srgbClr val="212529"/>
                  </a:solidFill>
                  <a:effectLst/>
                  <a:latin typeface="montserratregular"/>
                </a:rPr>
                <a:t>The proactive approach of detecting anomalies and generating alerts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IN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.</a:t>
              </a:r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F4D60C1-0EFB-4A85-A8E8-77CE2330CB53}"/>
                </a:ext>
              </a:extLst>
            </p:cNvPr>
            <p:cNvSpPr txBox="1"/>
            <p:nvPr/>
          </p:nvSpPr>
          <p:spPr>
            <a:xfrm>
              <a:off x="1982507" y="1458699"/>
              <a:ext cx="31190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Wingdings" panose="05000000000000000000" pitchFamily="2" charset="2"/>
                <a:buChar char="Ø"/>
              </a:pPr>
              <a:r>
                <a:rPr lang="en-US" sz="1600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montserratregular"/>
                  <a:cs typeface="Arial" pitchFamily="34" charset="0"/>
                </a:rPr>
                <a:t>O</a:t>
              </a:r>
              <a:r>
                <a:rPr lang="en-US" sz="1600" b="0" i="0" dirty="0">
                  <a:solidFill>
                    <a:srgbClr val="212529"/>
                  </a:solidFill>
                  <a:effectLst/>
                  <a:latin typeface="montserratregular"/>
                </a:rPr>
                <a:t>ffering insights into gender distribution in specific locations and times. It should identify unusual patterns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1AA5AAD-9B43-46C8-AB76-BEEE714273CC}"/>
              </a:ext>
            </a:extLst>
          </p:cNvPr>
          <p:cNvCxnSpPr>
            <a:cxnSpLocks/>
          </p:cNvCxnSpPr>
          <p:nvPr/>
        </p:nvCxnSpPr>
        <p:spPr>
          <a:xfrm flipV="1">
            <a:off x="6538490" y="5411736"/>
            <a:ext cx="4328802" cy="26860"/>
          </a:xfrm>
          <a:prstGeom prst="line">
            <a:avLst/>
          </a:prstGeom>
          <a:ln w="2540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D728B6D-EA65-4A37-B4CA-FF4E86FBF028}"/>
              </a:ext>
            </a:extLst>
          </p:cNvPr>
          <p:cNvSpPr/>
          <p:nvPr/>
        </p:nvSpPr>
        <p:spPr>
          <a:xfrm>
            <a:off x="5885724" y="5105427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71B31A-021B-496F-A7D6-AB46E97A51F7}"/>
              </a:ext>
            </a:extLst>
          </p:cNvPr>
          <p:cNvSpPr txBox="1"/>
          <p:nvPr/>
        </p:nvSpPr>
        <p:spPr>
          <a:xfrm>
            <a:off x="5925453" y="5203745"/>
            <a:ext cx="566763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04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1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THROUGH TIME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390756-1AD5-4344-A022-C91DAFE669B6}"/>
              </a:ext>
            </a:extLst>
          </p:cNvPr>
          <p:cNvCxnSpPr>
            <a:cxnSpLocks/>
          </p:cNvCxnSpPr>
          <p:nvPr/>
        </p:nvCxnSpPr>
        <p:spPr>
          <a:xfrm flipH="1">
            <a:off x="914401" y="3148678"/>
            <a:ext cx="10418885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2E2B4C-53D5-480A-94F2-7F61A93EB936}"/>
              </a:ext>
            </a:extLst>
          </p:cNvPr>
          <p:cNvCxnSpPr>
            <a:cxnSpLocks/>
          </p:cNvCxnSpPr>
          <p:nvPr/>
        </p:nvCxnSpPr>
        <p:spPr>
          <a:xfrm>
            <a:off x="1633510" y="2750448"/>
            <a:ext cx="0" cy="1371600"/>
          </a:xfrm>
          <a:prstGeom prst="line">
            <a:avLst/>
          </a:prstGeom>
          <a:ln w="25400">
            <a:solidFill>
              <a:schemeClr val="accent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177CC10-032D-42EF-BD8B-26E9F68DBA03}"/>
              </a:ext>
            </a:extLst>
          </p:cNvPr>
          <p:cNvSpPr/>
          <p:nvPr/>
        </p:nvSpPr>
        <p:spPr>
          <a:xfrm>
            <a:off x="1307127" y="2107537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9CC8FD-C4CD-4E2E-A50C-A55F20AF6617}"/>
              </a:ext>
            </a:extLst>
          </p:cNvPr>
          <p:cNvSpPr/>
          <p:nvPr/>
        </p:nvSpPr>
        <p:spPr>
          <a:xfrm>
            <a:off x="1057446" y="3395176"/>
            <a:ext cx="1152128" cy="4573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4B54C-48EC-4C93-8069-A09DAA5E9B39}"/>
              </a:ext>
            </a:extLst>
          </p:cNvPr>
          <p:cNvSpPr txBox="1"/>
          <p:nvPr/>
        </p:nvSpPr>
        <p:spPr>
          <a:xfrm>
            <a:off x="1206990" y="3454762"/>
            <a:ext cx="85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2016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7343E3-2473-4BDF-9F3A-CD2C9840C111}"/>
              </a:ext>
            </a:extLst>
          </p:cNvPr>
          <p:cNvCxnSpPr>
            <a:cxnSpLocks/>
          </p:cNvCxnSpPr>
          <p:nvPr/>
        </p:nvCxnSpPr>
        <p:spPr>
          <a:xfrm>
            <a:off x="3871350" y="2750448"/>
            <a:ext cx="0" cy="1371600"/>
          </a:xfrm>
          <a:prstGeom prst="line">
            <a:avLst/>
          </a:prstGeom>
          <a:ln w="254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D5C93AE-6A8F-4120-9462-CB4AD319F54C}"/>
              </a:ext>
            </a:extLst>
          </p:cNvPr>
          <p:cNvSpPr/>
          <p:nvPr/>
        </p:nvSpPr>
        <p:spPr>
          <a:xfrm>
            <a:off x="3544967" y="2107537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79DF2B-7674-4DAE-8088-D890FCD2D582}"/>
              </a:ext>
            </a:extLst>
          </p:cNvPr>
          <p:cNvSpPr/>
          <p:nvPr/>
        </p:nvSpPr>
        <p:spPr>
          <a:xfrm>
            <a:off x="3295286" y="3395176"/>
            <a:ext cx="1152128" cy="4573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0AF37-38C4-4A16-ADB2-ACC145824947}"/>
              </a:ext>
            </a:extLst>
          </p:cNvPr>
          <p:cNvSpPr txBox="1"/>
          <p:nvPr/>
        </p:nvSpPr>
        <p:spPr>
          <a:xfrm>
            <a:off x="3444830" y="3454762"/>
            <a:ext cx="85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2017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E5F56B-331B-4752-B095-BCE87F7E69A2}"/>
              </a:ext>
            </a:extLst>
          </p:cNvPr>
          <p:cNvCxnSpPr>
            <a:cxnSpLocks/>
          </p:cNvCxnSpPr>
          <p:nvPr/>
        </p:nvCxnSpPr>
        <p:spPr>
          <a:xfrm>
            <a:off x="6109190" y="2750448"/>
            <a:ext cx="0" cy="1371600"/>
          </a:xfrm>
          <a:prstGeom prst="line">
            <a:avLst/>
          </a:prstGeom>
          <a:ln w="254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34254F6-6892-423F-A3AE-10D3779F67DD}"/>
              </a:ext>
            </a:extLst>
          </p:cNvPr>
          <p:cNvSpPr/>
          <p:nvPr/>
        </p:nvSpPr>
        <p:spPr>
          <a:xfrm>
            <a:off x="5782807" y="2107537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73D821-2EEC-401E-AACC-2E4FF80B407C}"/>
              </a:ext>
            </a:extLst>
          </p:cNvPr>
          <p:cNvSpPr/>
          <p:nvPr/>
        </p:nvSpPr>
        <p:spPr>
          <a:xfrm>
            <a:off x="5533126" y="3395176"/>
            <a:ext cx="1152128" cy="4573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A01AC5-711E-4DEB-A625-F04ED9ECE2A3}"/>
              </a:ext>
            </a:extLst>
          </p:cNvPr>
          <p:cNvSpPr txBox="1"/>
          <p:nvPr/>
        </p:nvSpPr>
        <p:spPr>
          <a:xfrm>
            <a:off x="5682670" y="3454762"/>
            <a:ext cx="85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2018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4D1990-8BC5-4869-AA15-05AF12815051}"/>
              </a:ext>
            </a:extLst>
          </p:cNvPr>
          <p:cNvCxnSpPr>
            <a:cxnSpLocks/>
          </p:cNvCxnSpPr>
          <p:nvPr/>
        </p:nvCxnSpPr>
        <p:spPr>
          <a:xfrm>
            <a:off x="8347030" y="2750448"/>
            <a:ext cx="0" cy="1371600"/>
          </a:xfrm>
          <a:prstGeom prst="line">
            <a:avLst/>
          </a:prstGeom>
          <a:ln w="2540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707B082-7550-4D7E-A29C-5FAFCE7A049E}"/>
              </a:ext>
            </a:extLst>
          </p:cNvPr>
          <p:cNvSpPr/>
          <p:nvPr/>
        </p:nvSpPr>
        <p:spPr>
          <a:xfrm>
            <a:off x="8020647" y="2107537"/>
            <a:ext cx="652766" cy="652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9BCE61-4ECA-4E0F-96BF-EE8022DC7395}"/>
              </a:ext>
            </a:extLst>
          </p:cNvPr>
          <p:cNvSpPr/>
          <p:nvPr/>
        </p:nvSpPr>
        <p:spPr>
          <a:xfrm>
            <a:off x="7770966" y="3395176"/>
            <a:ext cx="1152128" cy="4573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FE66EE-4691-4998-BA46-0654B1A51686}"/>
              </a:ext>
            </a:extLst>
          </p:cNvPr>
          <p:cNvSpPr txBox="1"/>
          <p:nvPr/>
        </p:nvSpPr>
        <p:spPr>
          <a:xfrm>
            <a:off x="7920510" y="3454762"/>
            <a:ext cx="85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2019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61650F-4DBD-43B7-9919-914203EC58D2}"/>
              </a:ext>
            </a:extLst>
          </p:cNvPr>
          <p:cNvCxnSpPr>
            <a:cxnSpLocks/>
          </p:cNvCxnSpPr>
          <p:nvPr/>
        </p:nvCxnSpPr>
        <p:spPr>
          <a:xfrm>
            <a:off x="10584869" y="2750448"/>
            <a:ext cx="0" cy="1371600"/>
          </a:xfrm>
          <a:prstGeom prst="line">
            <a:avLst/>
          </a:prstGeom>
          <a:ln w="25400">
            <a:solidFill>
              <a:schemeClr val="accent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76F20CF-DA22-426F-A9D2-078C9EB47DC8}"/>
              </a:ext>
            </a:extLst>
          </p:cNvPr>
          <p:cNvSpPr/>
          <p:nvPr/>
        </p:nvSpPr>
        <p:spPr>
          <a:xfrm>
            <a:off x="10258486" y="2107537"/>
            <a:ext cx="652766" cy="652766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D870A2-A2EA-47C0-838C-94BB5CC78CB5}"/>
              </a:ext>
            </a:extLst>
          </p:cNvPr>
          <p:cNvSpPr/>
          <p:nvPr/>
        </p:nvSpPr>
        <p:spPr>
          <a:xfrm>
            <a:off x="10008805" y="3395176"/>
            <a:ext cx="1152128" cy="457309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00AC2D-1A83-4869-B630-48989FE1BCB9}"/>
              </a:ext>
            </a:extLst>
          </p:cNvPr>
          <p:cNvSpPr txBox="1"/>
          <p:nvPr/>
        </p:nvSpPr>
        <p:spPr>
          <a:xfrm>
            <a:off x="10158349" y="3454762"/>
            <a:ext cx="85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2020</a:t>
            </a:r>
            <a:endParaRPr lang="ko-KR" alt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E4F15A-0392-48B0-B4A7-5FE0097EF66D}"/>
              </a:ext>
            </a:extLst>
          </p:cNvPr>
          <p:cNvGrpSpPr/>
          <p:nvPr/>
        </p:nvGrpSpPr>
        <p:grpSpPr>
          <a:xfrm>
            <a:off x="902254" y="4389488"/>
            <a:ext cx="1462512" cy="520995"/>
            <a:chOff x="2079598" y="4257726"/>
            <a:chExt cx="2262901" cy="52099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681FDD8-3590-4D59-88F5-FFE4E168D02F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B9E44DE-0676-40C1-842B-94EF59935D06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8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625B4A-5D62-4FB5-90E7-94C746820CBF}"/>
              </a:ext>
            </a:extLst>
          </p:cNvPr>
          <p:cNvGrpSpPr/>
          <p:nvPr/>
        </p:nvGrpSpPr>
        <p:grpSpPr>
          <a:xfrm>
            <a:off x="2814325" y="4389488"/>
            <a:ext cx="2469832" cy="1141678"/>
            <a:chOff x="2079598" y="4257726"/>
            <a:chExt cx="3313064" cy="245301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CCE57BE-B8B7-4C83-864F-BE23C6A95B83}"/>
                </a:ext>
              </a:extLst>
            </p:cNvPr>
            <p:cNvSpPr txBox="1"/>
            <p:nvPr/>
          </p:nvSpPr>
          <p:spPr>
            <a:xfrm>
              <a:off x="2108139" y="4396225"/>
              <a:ext cx="3284523" cy="2314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Improved Connectivity</a:t>
              </a:r>
              <a:r>
                <a:rPr lang="en-US" altLang="ko-KR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Integration with Emergency Services</a:t>
              </a:r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45FF2B-6B85-44C8-8F20-F960F723D3F7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1A57A43-6F39-49E0-AD03-BC20D2EC54F1}"/>
              </a:ext>
            </a:extLst>
          </p:cNvPr>
          <p:cNvGrpSpPr/>
          <p:nvPr/>
        </p:nvGrpSpPr>
        <p:grpSpPr>
          <a:xfrm>
            <a:off x="4972115" y="4221323"/>
            <a:ext cx="2643291" cy="1058626"/>
            <a:chOff x="2079598" y="4257726"/>
            <a:chExt cx="3456482" cy="105862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29C719-0870-41EA-9B68-DFF7EA70D6DB}"/>
                </a:ext>
              </a:extLst>
            </p:cNvPr>
            <p:cNvSpPr txBox="1"/>
            <p:nvPr/>
          </p:nvSpPr>
          <p:spPr>
            <a:xfrm>
              <a:off x="2334243" y="4485355"/>
              <a:ext cx="32018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Smartphone Integration</a:t>
              </a:r>
            </a:p>
            <a:p>
              <a:pPr algn="ctr"/>
              <a:r>
                <a:rPr lang="en-IN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 </a:t>
              </a:r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Crowdsourced Safety Information</a:t>
              </a:r>
              <a:r>
                <a:rPr lang="en-IN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29FBD5-402A-4438-B14C-59CAF600F462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62B891-2F1C-4000-8089-6BFB8DF41B94}"/>
              </a:ext>
            </a:extLst>
          </p:cNvPr>
          <p:cNvGrpSpPr/>
          <p:nvPr/>
        </p:nvGrpSpPr>
        <p:grpSpPr>
          <a:xfrm>
            <a:off x="7250932" y="4389488"/>
            <a:ext cx="2448555" cy="890461"/>
            <a:chOff x="1515089" y="4257726"/>
            <a:chExt cx="3788576" cy="89046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F49A934-FEC6-4CE8-9750-161B4B90828F}"/>
                </a:ext>
              </a:extLst>
            </p:cNvPr>
            <p:cNvSpPr txBox="1"/>
            <p:nvPr/>
          </p:nvSpPr>
          <p:spPr>
            <a:xfrm>
              <a:off x="1515089" y="4317190"/>
              <a:ext cx="37885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AI and Machine Learning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Personal Safety Devices</a:t>
              </a:r>
              <a:r>
                <a:rPr lang="en-IN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BE35E9-50D3-42B0-A951-3A80F0474815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BB45B2B-9DC8-4865-B006-1A55383DA763}"/>
              </a:ext>
            </a:extLst>
          </p:cNvPr>
          <p:cNvGrpSpPr/>
          <p:nvPr/>
        </p:nvGrpSpPr>
        <p:grpSpPr>
          <a:xfrm>
            <a:off x="9443128" y="4389488"/>
            <a:ext cx="2453597" cy="1121316"/>
            <a:chOff x="1444466" y="4257726"/>
            <a:chExt cx="3796378" cy="112131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C459CF5-92D4-412F-B613-05A5C5022943}"/>
                </a:ext>
              </a:extLst>
            </p:cNvPr>
            <p:cNvSpPr txBox="1"/>
            <p:nvPr/>
          </p:nvSpPr>
          <p:spPr>
            <a:xfrm>
              <a:off x="1444466" y="4301824"/>
              <a:ext cx="37963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Enhanced Geofencing and Alerts</a:t>
              </a:r>
            </a:p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Voice-Activated Safety Features</a:t>
              </a:r>
              <a:endPara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DEA0F3F-0D10-4871-A6DB-59C29E3CF931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9" name="Isosceles Triangle 51">
            <a:extLst>
              <a:ext uri="{FF2B5EF4-FFF2-40B4-BE49-F238E27FC236}">
                <a16:creationId xmlns:a16="http://schemas.microsoft.com/office/drawing/2014/main" id="{E46D3D0A-D669-4095-B639-E10B39CB4FAB}"/>
              </a:ext>
            </a:extLst>
          </p:cNvPr>
          <p:cNvSpPr/>
          <p:nvPr/>
        </p:nvSpPr>
        <p:spPr>
          <a:xfrm>
            <a:off x="1442934" y="2301341"/>
            <a:ext cx="381154" cy="279502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EE976633-6CCE-48A0-B4BA-65340BA1CAD9}"/>
              </a:ext>
            </a:extLst>
          </p:cNvPr>
          <p:cNvSpPr/>
          <p:nvPr/>
        </p:nvSpPr>
        <p:spPr>
          <a:xfrm>
            <a:off x="3682821" y="2264613"/>
            <a:ext cx="377059" cy="35296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1" name="Rounded Rectangle 27">
            <a:extLst>
              <a:ext uri="{FF2B5EF4-FFF2-40B4-BE49-F238E27FC236}">
                <a16:creationId xmlns:a16="http://schemas.microsoft.com/office/drawing/2014/main" id="{9D3407CF-4CEA-4164-BE81-A881D37105F0}"/>
              </a:ext>
            </a:extLst>
          </p:cNvPr>
          <p:cNvSpPr/>
          <p:nvPr/>
        </p:nvSpPr>
        <p:spPr>
          <a:xfrm>
            <a:off x="10386650" y="2276325"/>
            <a:ext cx="396438" cy="304518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2" name="Rectangle 16">
            <a:extLst>
              <a:ext uri="{FF2B5EF4-FFF2-40B4-BE49-F238E27FC236}">
                <a16:creationId xmlns:a16="http://schemas.microsoft.com/office/drawing/2014/main" id="{5DE1BB55-F711-47FE-B8E4-B32BE2B9B74F}"/>
              </a:ext>
            </a:extLst>
          </p:cNvPr>
          <p:cNvSpPr/>
          <p:nvPr/>
        </p:nvSpPr>
        <p:spPr>
          <a:xfrm>
            <a:off x="8121504" y="2307958"/>
            <a:ext cx="451054" cy="296439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3" name="Rectangle 23">
            <a:extLst>
              <a:ext uri="{FF2B5EF4-FFF2-40B4-BE49-F238E27FC236}">
                <a16:creationId xmlns:a16="http://schemas.microsoft.com/office/drawing/2014/main" id="{145A220E-939B-4790-BF75-E298079A6F5E}"/>
              </a:ext>
            </a:extLst>
          </p:cNvPr>
          <p:cNvSpPr/>
          <p:nvPr/>
        </p:nvSpPr>
        <p:spPr>
          <a:xfrm>
            <a:off x="5845714" y="2253753"/>
            <a:ext cx="556014" cy="358330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55E57D-D22B-5E3E-A7E1-9E2CE27E7BB3}"/>
              </a:ext>
            </a:extLst>
          </p:cNvPr>
          <p:cNvSpPr txBox="1"/>
          <p:nvPr/>
        </p:nvSpPr>
        <p:spPr>
          <a:xfrm>
            <a:off x="525601" y="4433586"/>
            <a:ext cx="2522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Wearable Technology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MOBILE APPS</a:t>
            </a: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FOR THE SOLUTION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F93E8-A99F-4926-9105-65810A790DE5}"/>
              </a:ext>
            </a:extLst>
          </p:cNvPr>
          <p:cNvGrpSpPr/>
          <p:nvPr/>
        </p:nvGrpSpPr>
        <p:grpSpPr>
          <a:xfrm>
            <a:off x="4500664" y="2948547"/>
            <a:ext cx="3190672" cy="2178773"/>
            <a:chOff x="3366914" y="2916559"/>
            <a:chExt cx="2424286" cy="16554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DF4EB6E-D357-4322-B096-7A2E71678706}"/>
                </a:ext>
              </a:extLst>
            </p:cNvPr>
            <p:cNvSpPr/>
            <p:nvPr/>
          </p:nvSpPr>
          <p:spPr>
            <a:xfrm>
              <a:off x="3366914" y="3203451"/>
              <a:ext cx="2424286" cy="129614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7FA302-89DB-41FE-8A06-F560DD0F6D08}"/>
                </a:ext>
              </a:extLst>
            </p:cNvPr>
            <p:cNvSpPr/>
            <p:nvPr/>
          </p:nvSpPr>
          <p:spPr>
            <a:xfrm>
              <a:off x="3419872" y="3140968"/>
              <a:ext cx="2304256" cy="129614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B05BC86-DC61-435D-9FAF-DFEB7F62073A}"/>
                </a:ext>
              </a:extLst>
            </p:cNvPr>
            <p:cNvSpPr/>
            <p:nvPr/>
          </p:nvSpPr>
          <p:spPr>
            <a:xfrm>
              <a:off x="4572000" y="2916559"/>
              <a:ext cx="1080120" cy="1520552"/>
            </a:xfrm>
            <a:custGeom>
              <a:avLst/>
              <a:gdLst>
                <a:gd name="connsiteX0" fmla="*/ 0 w 1080120"/>
                <a:gd name="connsiteY0" fmla="*/ 0 h 1368152"/>
                <a:gd name="connsiteX1" fmla="*/ 1080120 w 1080120"/>
                <a:gd name="connsiteY1" fmla="*/ 0 h 1368152"/>
                <a:gd name="connsiteX2" fmla="*/ 1080120 w 1080120"/>
                <a:gd name="connsiteY2" fmla="*/ 1368152 h 1368152"/>
                <a:gd name="connsiteX3" fmla="*/ 0 w 1080120"/>
                <a:gd name="connsiteY3" fmla="*/ 1368152 h 1368152"/>
                <a:gd name="connsiteX4" fmla="*/ 0 w 1080120"/>
                <a:gd name="connsiteY4" fmla="*/ 0 h 1368152"/>
                <a:gd name="connsiteX0" fmla="*/ 0 w 1080120"/>
                <a:gd name="connsiteY0" fmla="*/ 95250 h 1463402"/>
                <a:gd name="connsiteX1" fmla="*/ 1080120 w 1080120"/>
                <a:gd name="connsiteY1" fmla="*/ 0 h 1463402"/>
                <a:gd name="connsiteX2" fmla="*/ 1080120 w 1080120"/>
                <a:gd name="connsiteY2" fmla="*/ 1463402 h 1463402"/>
                <a:gd name="connsiteX3" fmla="*/ 0 w 1080120"/>
                <a:gd name="connsiteY3" fmla="*/ 1463402 h 1463402"/>
                <a:gd name="connsiteX4" fmla="*/ 0 w 1080120"/>
                <a:gd name="connsiteY4" fmla="*/ 95250 h 1463402"/>
                <a:gd name="connsiteX0" fmla="*/ 0 w 1080120"/>
                <a:gd name="connsiteY0" fmla="*/ 131815 h 1499967"/>
                <a:gd name="connsiteX1" fmla="*/ 1080120 w 1080120"/>
                <a:gd name="connsiteY1" fmla="*/ 36565 h 1499967"/>
                <a:gd name="connsiteX2" fmla="*/ 1080120 w 1080120"/>
                <a:gd name="connsiteY2" fmla="*/ 1499967 h 1499967"/>
                <a:gd name="connsiteX3" fmla="*/ 0 w 1080120"/>
                <a:gd name="connsiteY3" fmla="*/ 1499967 h 1499967"/>
                <a:gd name="connsiteX4" fmla="*/ 0 w 1080120"/>
                <a:gd name="connsiteY4" fmla="*/ 131815 h 1499967"/>
                <a:gd name="connsiteX0" fmla="*/ 0 w 1080120"/>
                <a:gd name="connsiteY0" fmla="*/ 152612 h 1520764"/>
                <a:gd name="connsiteX1" fmla="*/ 1080120 w 1080120"/>
                <a:gd name="connsiteY1" fmla="*/ 57362 h 1520764"/>
                <a:gd name="connsiteX2" fmla="*/ 1080120 w 1080120"/>
                <a:gd name="connsiteY2" fmla="*/ 1520764 h 1520764"/>
                <a:gd name="connsiteX3" fmla="*/ 0 w 1080120"/>
                <a:gd name="connsiteY3" fmla="*/ 1520764 h 1520764"/>
                <a:gd name="connsiteX4" fmla="*/ 0 w 1080120"/>
                <a:gd name="connsiteY4" fmla="*/ 152612 h 1520764"/>
                <a:gd name="connsiteX0" fmla="*/ 0 w 1080120"/>
                <a:gd name="connsiteY0" fmla="*/ 123156 h 1491308"/>
                <a:gd name="connsiteX1" fmla="*/ 1080120 w 1080120"/>
                <a:gd name="connsiteY1" fmla="*/ 27906 h 1491308"/>
                <a:gd name="connsiteX2" fmla="*/ 1080120 w 1080120"/>
                <a:gd name="connsiteY2" fmla="*/ 1491308 h 1491308"/>
                <a:gd name="connsiteX3" fmla="*/ 0 w 1080120"/>
                <a:gd name="connsiteY3" fmla="*/ 1491308 h 1491308"/>
                <a:gd name="connsiteX4" fmla="*/ 0 w 1080120"/>
                <a:gd name="connsiteY4" fmla="*/ 123156 h 1491308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80120 w 1080120"/>
                <a:gd name="connsiteY2" fmla="*/ 152055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0120" h="1520552">
                  <a:moveTo>
                    <a:pt x="0" y="152400"/>
                  </a:moveTo>
                  <a:cubicBezTo>
                    <a:pt x="369565" y="6350"/>
                    <a:pt x="653405" y="-44450"/>
                    <a:pt x="1080120" y="0"/>
                  </a:cubicBezTo>
                  <a:lnTo>
                    <a:pt x="1070595" y="1349102"/>
                  </a:lnTo>
                  <a:cubicBezTo>
                    <a:pt x="694680" y="1311002"/>
                    <a:pt x="309240" y="1358627"/>
                    <a:pt x="0" y="1520552"/>
                  </a:cubicBezTo>
                  <a:lnTo>
                    <a:pt x="0" y="1524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BE20D4A4-76AF-4BB1-88DB-268F4DCF1DD4}"/>
                </a:ext>
              </a:extLst>
            </p:cNvPr>
            <p:cNvSpPr/>
            <p:nvPr/>
          </p:nvSpPr>
          <p:spPr>
            <a:xfrm flipH="1">
              <a:off x="3491880" y="2916559"/>
              <a:ext cx="1080120" cy="1520552"/>
            </a:xfrm>
            <a:custGeom>
              <a:avLst/>
              <a:gdLst>
                <a:gd name="connsiteX0" fmla="*/ 0 w 1080120"/>
                <a:gd name="connsiteY0" fmla="*/ 0 h 1368152"/>
                <a:gd name="connsiteX1" fmla="*/ 1080120 w 1080120"/>
                <a:gd name="connsiteY1" fmla="*/ 0 h 1368152"/>
                <a:gd name="connsiteX2" fmla="*/ 1080120 w 1080120"/>
                <a:gd name="connsiteY2" fmla="*/ 1368152 h 1368152"/>
                <a:gd name="connsiteX3" fmla="*/ 0 w 1080120"/>
                <a:gd name="connsiteY3" fmla="*/ 1368152 h 1368152"/>
                <a:gd name="connsiteX4" fmla="*/ 0 w 1080120"/>
                <a:gd name="connsiteY4" fmla="*/ 0 h 1368152"/>
                <a:gd name="connsiteX0" fmla="*/ 0 w 1080120"/>
                <a:gd name="connsiteY0" fmla="*/ 95250 h 1463402"/>
                <a:gd name="connsiteX1" fmla="*/ 1080120 w 1080120"/>
                <a:gd name="connsiteY1" fmla="*/ 0 h 1463402"/>
                <a:gd name="connsiteX2" fmla="*/ 1080120 w 1080120"/>
                <a:gd name="connsiteY2" fmla="*/ 1463402 h 1463402"/>
                <a:gd name="connsiteX3" fmla="*/ 0 w 1080120"/>
                <a:gd name="connsiteY3" fmla="*/ 1463402 h 1463402"/>
                <a:gd name="connsiteX4" fmla="*/ 0 w 1080120"/>
                <a:gd name="connsiteY4" fmla="*/ 95250 h 1463402"/>
                <a:gd name="connsiteX0" fmla="*/ 0 w 1080120"/>
                <a:gd name="connsiteY0" fmla="*/ 131815 h 1499967"/>
                <a:gd name="connsiteX1" fmla="*/ 1080120 w 1080120"/>
                <a:gd name="connsiteY1" fmla="*/ 36565 h 1499967"/>
                <a:gd name="connsiteX2" fmla="*/ 1080120 w 1080120"/>
                <a:gd name="connsiteY2" fmla="*/ 1499967 h 1499967"/>
                <a:gd name="connsiteX3" fmla="*/ 0 w 1080120"/>
                <a:gd name="connsiteY3" fmla="*/ 1499967 h 1499967"/>
                <a:gd name="connsiteX4" fmla="*/ 0 w 1080120"/>
                <a:gd name="connsiteY4" fmla="*/ 131815 h 1499967"/>
                <a:gd name="connsiteX0" fmla="*/ 0 w 1080120"/>
                <a:gd name="connsiteY0" fmla="*/ 152612 h 1520764"/>
                <a:gd name="connsiteX1" fmla="*/ 1080120 w 1080120"/>
                <a:gd name="connsiteY1" fmla="*/ 57362 h 1520764"/>
                <a:gd name="connsiteX2" fmla="*/ 1080120 w 1080120"/>
                <a:gd name="connsiteY2" fmla="*/ 1520764 h 1520764"/>
                <a:gd name="connsiteX3" fmla="*/ 0 w 1080120"/>
                <a:gd name="connsiteY3" fmla="*/ 1520764 h 1520764"/>
                <a:gd name="connsiteX4" fmla="*/ 0 w 1080120"/>
                <a:gd name="connsiteY4" fmla="*/ 152612 h 1520764"/>
                <a:gd name="connsiteX0" fmla="*/ 0 w 1080120"/>
                <a:gd name="connsiteY0" fmla="*/ 123156 h 1491308"/>
                <a:gd name="connsiteX1" fmla="*/ 1080120 w 1080120"/>
                <a:gd name="connsiteY1" fmla="*/ 27906 h 1491308"/>
                <a:gd name="connsiteX2" fmla="*/ 1080120 w 1080120"/>
                <a:gd name="connsiteY2" fmla="*/ 1491308 h 1491308"/>
                <a:gd name="connsiteX3" fmla="*/ 0 w 1080120"/>
                <a:gd name="connsiteY3" fmla="*/ 1491308 h 1491308"/>
                <a:gd name="connsiteX4" fmla="*/ 0 w 1080120"/>
                <a:gd name="connsiteY4" fmla="*/ 123156 h 1491308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80120 w 1080120"/>
                <a:gd name="connsiteY2" fmla="*/ 152055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  <a:gd name="connsiteX0" fmla="*/ 0 w 1080120"/>
                <a:gd name="connsiteY0" fmla="*/ 152400 h 1520552"/>
                <a:gd name="connsiteX1" fmla="*/ 1080120 w 1080120"/>
                <a:gd name="connsiteY1" fmla="*/ 0 h 1520552"/>
                <a:gd name="connsiteX2" fmla="*/ 1070595 w 1080120"/>
                <a:gd name="connsiteY2" fmla="*/ 1349102 h 1520552"/>
                <a:gd name="connsiteX3" fmla="*/ 0 w 1080120"/>
                <a:gd name="connsiteY3" fmla="*/ 1520552 h 1520552"/>
                <a:gd name="connsiteX4" fmla="*/ 0 w 1080120"/>
                <a:gd name="connsiteY4" fmla="*/ 152400 h 152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0120" h="1520552">
                  <a:moveTo>
                    <a:pt x="0" y="152400"/>
                  </a:moveTo>
                  <a:cubicBezTo>
                    <a:pt x="369565" y="6350"/>
                    <a:pt x="653405" y="-44450"/>
                    <a:pt x="1080120" y="0"/>
                  </a:cubicBezTo>
                  <a:lnTo>
                    <a:pt x="1070595" y="1349102"/>
                  </a:lnTo>
                  <a:cubicBezTo>
                    <a:pt x="694680" y="1311002"/>
                    <a:pt x="309240" y="1358627"/>
                    <a:pt x="0" y="1520552"/>
                  </a:cubicBezTo>
                  <a:lnTo>
                    <a:pt x="0" y="1524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061E204-0CDD-4D61-B6F4-1D9CFF9B0E12}"/>
                </a:ext>
              </a:extLst>
            </p:cNvPr>
            <p:cNvSpPr/>
            <p:nvPr/>
          </p:nvSpPr>
          <p:spPr>
            <a:xfrm>
              <a:off x="4439051" y="4449847"/>
              <a:ext cx="257915" cy="122153"/>
            </a:xfrm>
            <a:custGeom>
              <a:avLst/>
              <a:gdLst/>
              <a:ahLst/>
              <a:cxnLst/>
              <a:rect l="l" t="t" r="r" b="b"/>
              <a:pathLst>
                <a:path w="900094" h="360040">
                  <a:moveTo>
                    <a:pt x="0" y="0"/>
                  </a:moveTo>
                  <a:lnTo>
                    <a:pt x="900094" y="0"/>
                  </a:lnTo>
                  <a:cubicBezTo>
                    <a:pt x="900094" y="198845"/>
                    <a:pt x="698601" y="360040"/>
                    <a:pt x="450047" y="360040"/>
                  </a:cubicBezTo>
                  <a:cubicBezTo>
                    <a:pt x="201493" y="360040"/>
                    <a:pt x="0" y="198845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F67B59F-C911-4860-9597-652DBEA1BA2C}"/>
              </a:ext>
            </a:extLst>
          </p:cNvPr>
          <p:cNvGrpSpPr/>
          <p:nvPr/>
        </p:nvGrpSpPr>
        <p:grpSpPr>
          <a:xfrm>
            <a:off x="8167614" y="4781885"/>
            <a:ext cx="3847404" cy="2083279"/>
            <a:chOff x="7737345" y="4587321"/>
            <a:chExt cx="2263587" cy="208327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2D6EAF-C2D7-4821-801D-E67F77B7376A}"/>
                </a:ext>
              </a:extLst>
            </p:cNvPr>
            <p:cNvSpPr txBox="1"/>
            <p:nvPr/>
          </p:nvSpPr>
          <p:spPr>
            <a:xfrm>
              <a:off x="7737345" y="4587321"/>
              <a:ext cx="1877204" cy="369332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ANALYSIS 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189176-6238-492D-9E13-46907F1539B2}"/>
                </a:ext>
              </a:extLst>
            </p:cNvPr>
            <p:cNvSpPr txBox="1"/>
            <p:nvPr/>
          </p:nvSpPr>
          <p:spPr>
            <a:xfrm>
              <a:off x="7752185" y="4823941"/>
              <a:ext cx="2248747" cy="1846659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600" b="0" i="0" dirty="0">
                  <a:solidFill>
                    <a:srgbClr val="1F2328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Identifying Hotspots: </a:t>
              </a:r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Collect and preprocess data Perform EDA(exploratory data analysis).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Use clustering to identify hotspots. Train classification or regression models for crime prediction .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Apply spatial analysis to identify high-risk areas.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endPara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그룹 18">
            <a:extLst>
              <a:ext uri="{FF2B5EF4-FFF2-40B4-BE49-F238E27FC236}">
                <a16:creationId xmlns:a16="http://schemas.microsoft.com/office/drawing/2014/main" id="{5DED3EE1-CAFA-4860-B701-470C062A9C4C}"/>
              </a:ext>
            </a:extLst>
          </p:cNvPr>
          <p:cNvGrpSpPr/>
          <p:nvPr/>
        </p:nvGrpSpPr>
        <p:grpSpPr>
          <a:xfrm>
            <a:off x="8192838" y="1689652"/>
            <a:ext cx="3190672" cy="1963110"/>
            <a:chOff x="7752184" y="1689650"/>
            <a:chExt cx="1877204" cy="19631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D5BF89-68C3-4610-95AB-9E07A080A055}"/>
                </a:ext>
              </a:extLst>
            </p:cNvPr>
            <p:cNvSpPr txBox="1"/>
            <p:nvPr/>
          </p:nvSpPr>
          <p:spPr>
            <a:xfrm>
              <a:off x="7752184" y="1689650"/>
              <a:ext cx="1877204" cy="369332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USING CNN AND RNN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AFBF64-5E32-4D48-BE14-1A6FD98EDF16}"/>
                </a:ext>
              </a:extLst>
            </p:cNvPr>
            <p:cNvSpPr txBox="1"/>
            <p:nvPr/>
          </p:nvSpPr>
          <p:spPr>
            <a:xfrm>
              <a:off x="7752184" y="1990767"/>
              <a:ext cx="1877204" cy="1661993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l"/>
              <a:r>
                <a:rPr lang="en-US" b="0" i="0" dirty="0">
                  <a:solidFill>
                    <a:srgbClr val="1F2328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Recognizing SOS Situations through Gesture Analytics: Analyze gestures to detect SOS signals</a:t>
              </a:r>
              <a:r>
                <a:rPr lang="en-US" sz="1200" b="0" i="0" dirty="0">
                  <a:solidFill>
                    <a:srgbClr val="1F2328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sz="1200" dirty="0">
                  <a:solidFill>
                    <a:srgbClr val="1F232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(convolutional and recurrent </a:t>
              </a:r>
              <a:r>
                <a:rPr lang="en-US" dirty="0">
                  <a:solidFill>
                    <a:srgbClr val="1F232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voice recognition by CTC</a:t>
              </a:r>
              <a:r>
                <a:rPr lang="en-US" sz="1200" dirty="0">
                  <a:solidFill>
                    <a:srgbClr val="1F232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(connectionist Temporal classification) HMMs AND GMMs.</a:t>
              </a:r>
              <a:endParaRPr lang="en-US" sz="12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그룹 21">
            <a:extLst>
              <a:ext uri="{FF2B5EF4-FFF2-40B4-BE49-F238E27FC236}">
                <a16:creationId xmlns:a16="http://schemas.microsoft.com/office/drawing/2014/main" id="{6029287C-9A73-42A6-B12C-B06DAC413835}"/>
              </a:ext>
            </a:extLst>
          </p:cNvPr>
          <p:cNvGrpSpPr/>
          <p:nvPr/>
        </p:nvGrpSpPr>
        <p:grpSpPr>
          <a:xfrm>
            <a:off x="808490" y="5139966"/>
            <a:ext cx="3190672" cy="562727"/>
            <a:chOff x="2634620" y="4945401"/>
            <a:chExt cx="1877204" cy="5627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42979E-39A6-45C6-B5D4-AE6222EAA853}"/>
                </a:ext>
              </a:extLst>
            </p:cNvPr>
            <p:cNvSpPr txBox="1"/>
            <p:nvPr/>
          </p:nvSpPr>
          <p:spPr>
            <a:xfrm>
              <a:off x="2634620" y="4945401"/>
              <a:ext cx="1877204" cy="338554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DETECTION THROUGH ML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29C4F90-7ADF-4EB8-8B01-27D905EA9F0F}"/>
                </a:ext>
              </a:extLst>
            </p:cNvPr>
            <p:cNvSpPr txBox="1"/>
            <p:nvPr/>
          </p:nvSpPr>
          <p:spPr>
            <a:xfrm>
              <a:off x="2634620" y="5231129"/>
              <a:ext cx="1877204" cy="276999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그룹 20">
            <a:extLst>
              <a:ext uri="{FF2B5EF4-FFF2-40B4-BE49-F238E27FC236}">
                <a16:creationId xmlns:a16="http://schemas.microsoft.com/office/drawing/2014/main" id="{2E084597-C4F3-42B7-A7D8-8921EA822DBA}"/>
              </a:ext>
            </a:extLst>
          </p:cNvPr>
          <p:cNvGrpSpPr/>
          <p:nvPr/>
        </p:nvGrpSpPr>
        <p:grpSpPr>
          <a:xfrm>
            <a:off x="808490" y="1689653"/>
            <a:ext cx="3190672" cy="1963110"/>
            <a:chOff x="2634620" y="1689651"/>
            <a:chExt cx="1877204" cy="196311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1D8423-2CDB-459F-A77F-6DB4CD2B18FA}"/>
                </a:ext>
              </a:extLst>
            </p:cNvPr>
            <p:cNvSpPr txBox="1"/>
            <p:nvPr/>
          </p:nvSpPr>
          <p:spPr>
            <a:xfrm>
              <a:off x="2634620" y="1689651"/>
              <a:ext cx="1877204" cy="369332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DNN MODELS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DB5E71-4CDB-42DD-BE3B-E4D3AF5653EB}"/>
                </a:ext>
              </a:extLst>
            </p:cNvPr>
            <p:cNvSpPr txBox="1"/>
            <p:nvPr/>
          </p:nvSpPr>
          <p:spPr>
            <a:xfrm>
              <a:off x="2634620" y="1990768"/>
              <a:ext cx="1877204" cy="1661993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b="0" i="0" dirty="0">
                  <a:solidFill>
                    <a:srgbClr val="1F2328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Person Detection with Gender Classification: Detect and classify the gender of individuals in the scene using pre-trained DNN models.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1" name="Elbow Connector 19">
            <a:extLst>
              <a:ext uri="{FF2B5EF4-FFF2-40B4-BE49-F238E27FC236}">
                <a16:creationId xmlns:a16="http://schemas.microsoft.com/office/drawing/2014/main" id="{05EAEF5E-711B-49AB-B08F-7DED48A354D4}"/>
              </a:ext>
            </a:extLst>
          </p:cNvPr>
          <p:cNvCxnSpPr/>
          <p:nvPr/>
        </p:nvCxnSpPr>
        <p:spPr>
          <a:xfrm flipV="1">
            <a:off x="4262158" y="4349030"/>
            <a:ext cx="1260000" cy="972000"/>
          </a:xfrm>
          <a:prstGeom prst="bentConnector3">
            <a:avLst>
              <a:gd name="adj1" fmla="val 100515"/>
            </a:avLst>
          </a:prstGeom>
          <a:ln w="25400">
            <a:solidFill>
              <a:schemeClr val="accent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2">
            <a:extLst>
              <a:ext uri="{FF2B5EF4-FFF2-40B4-BE49-F238E27FC236}">
                <a16:creationId xmlns:a16="http://schemas.microsoft.com/office/drawing/2014/main" id="{32F1BD90-F85C-4C7C-A6FE-6D6DD141EB1F}"/>
              </a:ext>
            </a:extLst>
          </p:cNvPr>
          <p:cNvCxnSpPr>
            <a:cxnSpLocks/>
          </p:cNvCxnSpPr>
          <p:nvPr/>
        </p:nvCxnSpPr>
        <p:spPr>
          <a:xfrm rot="10800000">
            <a:off x="6597350" y="4349030"/>
            <a:ext cx="1260000" cy="972000"/>
          </a:xfrm>
          <a:prstGeom prst="bentConnector3">
            <a:avLst>
              <a:gd name="adj1" fmla="val 99033"/>
            </a:avLst>
          </a:prstGeom>
          <a:ln w="25400">
            <a:solidFill>
              <a:schemeClr val="accent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31">
            <a:extLst>
              <a:ext uri="{FF2B5EF4-FFF2-40B4-BE49-F238E27FC236}">
                <a16:creationId xmlns:a16="http://schemas.microsoft.com/office/drawing/2014/main" id="{ECD31675-AABA-448C-8C65-0BCBAC18D68A}"/>
              </a:ext>
            </a:extLst>
          </p:cNvPr>
          <p:cNvCxnSpPr/>
          <p:nvPr/>
        </p:nvCxnSpPr>
        <p:spPr>
          <a:xfrm rot="16200000" flipH="1">
            <a:off x="4118158" y="2037770"/>
            <a:ext cx="1548000" cy="1260000"/>
          </a:xfrm>
          <a:prstGeom prst="bentConnector3">
            <a:avLst>
              <a:gd name="adj1" fmla="val -441"/>
            </a:avLst>
          </a:prstGeom>
          <a:ln w="2540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34">
            <a:extLst>
              <a:ext uri="{FF2B5EF4-FFF2-40B4-BE49-F238E27FC236}">
                <a16:creationId xmlns:a16="http://schemas.microsoft.com/office/drawing/2014/main" id="{7D0E89C7-EBAC-45DB-AADA-D3EE0FB1A644}"/>
              </a:ext>
            </a:extLst>
          </p:cNvPr>
          <p:cNvCxnSpPr/>
          <p:nvPr/>
        </p:nvCxnSpPr>
        <p:spPr>
          <a:xfrm rot="5400000">
            <a:off x="6453350" y="2037771"/>
            <a:ext cx="1548000" cy="1260000"/>
          </a:xfrm>
          <a:prstGeom prst="bentConnector3">
            <a:avLst>
              <a:gd name="adj1" fmla="val -253"/>
            </a:avLst>
          </a:prstGeom>
          <a:ln w="25400">
            <a:solidFill>
              <a:schemeClr val="accent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00F5471-5626-4EFB-BEF0-81A1BDF38E24}"/>
              </a:ext>
            </a:extLst>
          </p:cNvPr>
          <p:cNvSpPr txBox="1"/>
          <p:nvPr/>
        </p:nvSpPr>
        <p:spPr>
          <a:xfrm>
            <a:off x="4769336" y="3724301"/>
            <a:ext cx="130657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PERCEIVE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3CB110-DF17-4BC0-B63A-3ED0EE7026DF}"/>
              </a:ext>
            </a:extLst>
          </p:cNvPr>
          <p:cNvSpPr txBox="1"/>
          <p:nvPr/>
        </p:nvSpPr>
        <p:spPr>
          <a:xfrm>
            <a:off x="6241920" y="3579836"/>
            <a:ext cx="108012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Content  Here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2C430D-2AA4-5C58-6798-76863F5CBFEB}"/>
              </a:ext>
            </a:extLst>
          </p:cNvPr>
          <p:cNvSpPr txBox="1"/>
          <p:nvPr/>
        </p:nvSpPr>
        <p:spPr>
          <a:xfrm>
            <a:off x="501349" y="54044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 Lone Woman at Night: Detect scenarios where a lone woman is present during night time. Detection of a Woman Surrounded by Men: Identify situations where a woman is surrounded by men.</a:t>
            </a: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427BF89F-1C37-FDA4-4179-201562247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ACD85C-2646-4875-ACBC-8AFDBD010D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DNN model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2102F-B20B-4E6B-95F6-6D184636228D}"/>
              </a:ext>
            </a:extLst>
          </p:cNvPr>
          <p:cNvSpPr txBox="1"/>
          <p:nvPr/>
        </p:nvSpPr>
        <p:spPr>
          <a:xfrm>
            <a:off x="323529" y="2087306"/>
            <a:ext cx="113262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dnn-deep neural networks it is a class of machine learning algorithms similar to the artificial neural networks and aim to mimicthe information processing of the brain.</a:t>
            </a:r>
          </a:p>
          <a:p>
            <a:r>
              <a:rPr lang="en-US"/>
              <a:t>uses:</a:t>
            </a:r>
          </a:p>
          <a:p>
            <a:r>
              <a:rPr lang="en-US"/>
              <a:t>recommendation systems</a:t>
            </a:r>
          </a:p>
          <a:p>
            <a:r>
              <a:rPr lang="en-US"/>
              <a:t>image recognition</a:t>
            </a:r>
          </a:p>
          <a:p>
            <a:r>
              <a:rPr lang="en-US"/>
              <a:t>speech recognition</a:t>
            </a:r>
          </a:p>
          <a:p>
            <a:r>
              <a:rPr lang="en-US"/>
              <a:t>language recogintion</a:t>
            </a:r>
          </a:p>
          <a:p>
            <a:r>
              <a:rPr lang="en-US"/>
              <a:t>object detection</a:t>
            </a:r>
          </a:p>
          <a:p>
            <a:r>
              <a:rPr lang="en-US"/>
              <a:t>unstructured data etc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1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7F0BF6-0B31-4FD1-89A1-3246E852D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CNN model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F10B6-1DB0-4D62-989E-E804D67C7E3F}"/>
              </a:ext>
            </a:extLst>
          </p:cNvPr>
          <p:cNvSpPr txBox="1"/>
          <p:nvPr/>
        </p:nvSpPr>
        <p:spPr>
          <a:xfrm>
            <a:off x="571500" y="1565031"/>
            <a:ext cx="10700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Convolutional neural network: it is a type of deep learning neural network architecture commonly used in computer vision</a:t>
            </a:r>
          </a:p>
          <a:p>
            <a:r>
              <a:rPr lang="en-US" dirty="0"/>
              <a:t>Computer vision is a  field of artificial intelligence that enables a computer to understand and interrupt the image or visual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713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CB34CF-0B16-431E-9A3A-7BAF7B9CA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025851"/>
              </p:ext>
            </p:extLst>
          </p:nvPr>
        </p:nvGraphicFramePr>
        <p:xfrm>
          <a:off x="931456" y="1763293"/>
          <a:ext cx="10329088" cy="296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2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2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6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5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5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D6F6E7A6-AC2D-49E1-AFAB-E761ADA6DAC3}"/>
              </a:ext>
            </a:extLst>
          </p:cNvPr>
          <p:cNvSpPr/>
          <p:nvPr/>
        </p:nvSpPr>
        <p:spPr>
          <a:xfrm>
            <a:off x="1448860" y="4941168"/>
            <a:ext cx="1910036" cy="1080120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595BBE-3067-43D9-83D3-A9FE59CEC81D}"/>
              </a:ext>
            </a:extLst>
          </p:cNvPr>
          <p:cNvGrpSpPr/>
          <p:nvPr/>
        </p:nvGrpSpPr>
        <p:grpSpPr>
          <a:xfrm>
            <a:off x="1719802" y="5051715"/>
            <a:ext cx="1368152" cy="872368"/>
            <a:chOff x="867339" y="4843642"/>
            <a:chExt cx="1368152" cy="8723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78DC676-1F69-4880-B0B4-D88003B88992}"/>
                </a:ext>
              </a:extLst>
            </p:cNvPr>
            <p:cNvSpPr/>
            <p:nvPr/>
          </p:nvSpPr>
          <p:spPr>
            <a:xfrm>
              <a:off x="867339" y="5069679"/>
              <a:ext cx="136815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40CF6-384F-4650-9107-6E7DA8B503AE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4983DE16-35F8-432F-B6F6-0239EBEA1DA8}"/>
              </a:ext>
            </a:extLst>
          </p:cNvPr>
          <p:cNvSpPr/>
          <p:nvPr/>
        </p:nvSpPr>
        <p:spPr>
          <a:xfrm>
            <a:off x="3898906" y="4941168"/>
            <a:ext cx="1910036" cy="1080120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24B69CC-29B8-43C0-BEB9-A5DE83D8E76C}"/>
              </a:ext>
            </a:extLst>
          </p:cNvPr>
          <p:cNvGrpSpPr/>
          <p:nvPr/>
        </p:nvGrpSpPr>
        <p:grpSpPr>
          <a:xfrm>
            <a:off x="4169848" y="5051715"/>
            <a:ext cx="1368152" cy="872368"/>
            <a:chOff x="867339" y="4843642"/>
            <a:chExt cx="1368152" cy="8723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36C0C-2616-463B-A08D-B38984A76260}"/>
                </a:ext>
              </a:extLst>
            </p:cNvPr>
            <p:cNvSpPr/>
            <p:nvPr/>
          </p:nvSpPr>
          <p:spPr>
            <a:xfrm>
              <a:off x="867339" y="5069679"/>
              <a:ext cx="136815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9F346A-EC65-4AB6-8A42-F215E97737EA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4E3DEC8A-7D60-4B08-A45E-A4538DEFE4BC}"/>
              </a:ext>
            </a:extLst>
          </p:cNvPr>
          <p:cNvSpPr/>
          <p:nvPr/>
        </p:nvSpPr>
        <p:spPr>
          <a:xfrm>
            <a:off x="6348952" y="4941168"/>
            <a:ext cx="1910036" cy="1080120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721B9A-059E-4C98-B6FB-2BA0E27AA45F}"/>
              </a:ext>
            </a:extLst>
          </p:cNvPr>
          <p:cNvGrpSpPr/>
          <p:nvPr/>
        </p:nvGrpSpPr>
        <p:grpSpPr>
          <a:xfrm>
            <a:off x="6619894" y="5051715"/>
            <a:ext cx="1368152" cy="872368"/>
            <a:chOff x="867339" y="4843642"/>
            <a:chExt cx="1368152" cy="8723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EE9C78-B110-4AD5-AD79-B714D7C76A83}"/>
                </a:ext>
              </a:extLst>
            </p:cNvPr>
            <p:cNvSpPr/>
            <p:nvPr/>
          </p:nvSpPr>
          <p:spPr>
            <a:xfrm>
              <a:off x="867339" y="5069679"/>
              <a:ext cx="136815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224BAC-D844-4DAA-B606-30A1A82BFB5B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DD48B69D-AC68-445F-B638-6B2B8BE5ECCC}"/>
              </a:ext>
            </a:extLst>
          </p:cNvPr>
          <p:cNvSpPr/>
          <p:nvPr/>
        </p:nvSpPr>
        <p:spPr>
          <a:xfrm>
            <a:off x="8798998" y="4941168"/>
            <a:ext cx="1910036" cy="1080120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592214-3588-434C-B5A8-2B28F1AA48F6}"/>
              </a:ext>
            </a:extLst>
          </p:cNvPr>
          <p:cNvGrpSpPr/>
          <p:nvPr/>
        </p:nvGrpSpPr>
        <p:grpSpPr>
          <a:xfrm>
            <a:off x="9069940" y="5051715"/>
            <a:ext cx="1368152" cy="872368"/>
            <a:chOff x="867339" y="4843642"/>
            <a:chExt cx="1368152" cy="87236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5B9AE1E-0E30-4180-850C-9F379F04D2B5}"/>
                </a:ext>
              </a:extLst>
            </p:cNvPr>
            <p:cNvSpPr/>
            <p:nvPr/>
          </p:nvSpPr>
          <p:spPr>
            <a:xfrm>
              <a:off x="867339" y="5069679"/>
              <a:ext cx="136815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30121B-8A60-4E43-9DE1-DC09259C4D85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59AA83-F9F2-4C25-AEF7-77A03D0E33B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358896" y="5481228"/>
            <a:ext cx="540010" cy="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4D3078-BE44-467C-8D52-B127DB3AC293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5808942" y="5481228"/>
            <a:ext cx="540010" cy="0"/>
          </a:xfrm>
          <a:prstGeom prst="straightConnector1">
            <a:avLst/>
          </a:prstGeom>
          <a:ln w="381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BB92AC-0797-4566-AA5E-0CC765CA3470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8258988" y="5481228"/>
            <a:ext cx="540010" cy="0"/>
          </a:xfrm>
          <a:prstGeom prst="straightConnector1">
            <a:avLst/>
          </a:prstGeom>
          <a:ln w="381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012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909580" y="5028776"/>
            <a:ext cx="354812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Column  Infographic</a:t>
            </a:r>
            <a:endParaRPr lang="ko-KR" altLang="en-US" sz="44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4ECC7-0291-4DF9-8868-35366092CAE5}"/>
              </a:ext>
            </a:extLst>
          </p:cNvPr>
          <p:cNvSpPr txBox="1"/>
          <p:nvPr/>
        </p:nvSpPr>
        <p:spPr>
          <a:xfrm>
            <a:off x="5965425" y="583689"/>
            <a:ext cx="5227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sz="1400" dirty="0">
                <a:solidFill>
                  <a:schemeClr val="accent2"/>
                </a:solidFill>
                <a:cs typeface="Arial" pitchFamily="34" charset="0"/>
              </a:rPr>
              <a:t>L</a:t>
            </a:r>
            <a:r>
              <a:rPr lang="en-US" altLang="ko-KR" sz="1400" dirty="0">
                <a:solidFill>
                  <a:schemeClr val="accent2"/>
                </a:solidFill>
                <a:cs typeface="Arial" pitchFamily="34" charset="0"/>
              </a:rPr>
              <a:t>OREM IPSUM DOLOR SIT AMET, CU USU AGAM INTEGRE IMPEDIT.</a:t>
            </a:r>
            <a:endParaRPr lang="ko-KR" altLang="en-US" sz="1400" dirty="0">
              <a:solidFill>
                <a:schemeClr val="accent2"/>
              </a:solidFill>
              <a:cs typeface="Arial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83D671-83BB-43A3-8760-CB32BEDBB269}"/>
              </a:ext>
            </a:extLst>
          </p:cNvPr>
          <p:cNvCxnSpPr>
            <a:cxnSpLocks/>
          </p:cNvCxnSpPr>
          <p:nvPr/>
        </p:nvCxnSpPr>
        <p:spPr>
          <a:xfrm flipV="1">
            <a:off x="5871722" y="1195235"/>
            <a:ext cx="5520194" cy="5782"/>
          </a:xfrm>
          <a:prstGeom prst="line">
            <a:avLst/>
          </a:prstGeom>
          <a:ln w="381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D1F7905-739B-4A37-8C61-9C0A88497186}"/>
              </a:ext>
            </a:extLst>
          </p:cNvPr>
          <p:cNvSpPr/>
          <p:nvPr/>
        </p:nvSpPr>
        <p:spPr>
          <a:xfrm>
            <a:off x="5213838" y="883255"/>
            <a:ext cx="652766" cy="65276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DD421-4831-4051-AACE-8DCBB3FB1DEE}"/>
              </a:ext>
            </a:extLst>
          </p:cNvPr>
          <p:cNvSpPr txBox="1"/>
          <p:nvPr/>
        </p:nvSpPr>
        <p:spPr>
          <a:xfrm>
            <a:off x="5965425" y="1420807"/>
            <a:ext cx="5227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  <a:cs typeface="Calibr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781F3F-D016-470F-8871-60047DF6AC9B}"/>
              </a:ext>
            </a:extLst>
          </p:cNvPr>
          <p:cNvSpPr txBox="1"/>
          <p:nvPr/>
        </p:nvSpPr>
        <p:spPr>
          <a:xfrm>
            <a:off x="5965423" y="1782675"/>
            <a:ext cx="52271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C72B9C-EC55-40D0-A23F-6CEBDC482720}"/>
              </a:ext>
            </a:extLst>
          </p:cNvPr>
          <p:cNvSpPr txBox="1"/>
          <p:nvPr/>
        </p:nvSpPr>
        <p:spPr>
          <a:xfrm>
            <a:off x="5965425" y="3505665"/>
            <a:ext cx="5227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sz="1400" dirty="0">
                <a:solidFill>
                  <a:schemeClr val="accent3"/>
                </a:solidFill>
                <a:cs typeface="Arial" pitchFamily="34" charset="0"/>
              </a:rPr>
              <a:t>L</a:t>
            </a:r>
            <a:r>
              <a:rPr lang="en-US" altLang="ko-KR" sz="1400" dirty="0">
                <a:solidFill>
                  <a:schemeClr val="accent3"/>
                </a:solidFill>
                <a:cs typeface="Arial" pitchFamily="34" charset="0"/>
              </a:rPr>
              <a:t>OREM IPSUM DOLOR SIT AMET, CU USU AGAM INTEGRE IMPEDIT.</a:t>
            </a:r>
            <a:endParaRPr lang="ko-KR" altLang="en-US" sz="1400" dirty="0">
              <a:solidFill>
                <a:schemeClr val="accent3"/>
              </a:solidFill>
              <a:cs typeface="Arial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D77BC0-C161-467E-9D5E-71ED268F485A}"/>
              </a:ext>
            </a:extLst>
          </p:cNvPr>
          <p:cNvCxnSpPr>
            <a:cxnSpLocks/>
          </p:cNvCxnSpPr>
          <p:nvPr/>
        </p:nvCxnSpPr>
        <p:spPr>
          <a:xfrm flipV="1">
            <a:off x="5871722" y="4117211"/>
            <a:ext cx="5520194" cy="5782"/>
          </a:xfrm>
          <a:prstGeom prst="line">
            <a:avLst/>
          </a:prstGeom>
          <a:ln w="3810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5134BD4-DDCD-4789-9117-C87F2F7B3E89}"/>
              </a:ext>
            </a:extLst>
          </p:cNvPr>
          <p:cNvSpPr/>
          <p:nvPr/>
        </p:nvSpPr>
        <p:spPr>
          <a:xfrm>
            <a:off x="5213838" y="3805231"/>
            <a:ext cx="652766" cy="65276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7B94B4-D29C-4CEF-83A5-9C55FE7E35D2}"/>
              </a:ext>
            </a:extLst>
          </p:cNvPr>
          <p:cNvSpPr txBox="1"/>
          <p:nvPr/>
        </p:nvSpPr>
        <p:spPr>
          <a:xfrm>
            <a:off x="5965425" y="4342783"/>
            <a:ext cx="5227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>
                    <a:lumMod val="75000"/>
                  </a:schemeClr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3">
                  <a:lumMod val="75000"/>
                </a:schemeClr>
              </a:solidFill>
              <a:cs typeface="Calibri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17A0A3-BF9B-4C15-94DD-2223EACCE8CE}"/>
              </a:ext>
            </a:extLst>
          </p:cNvPr>
          <p:cNvSpPr txBox="1"/>
          <p:nvPr/>
        </p:nvSpPr>
        <p:spPr>
          <a:xfrm>
            <a:off x="5965423" y="4704651"/>
            <a:ext cx="52271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</p:spTree>
    <p:extLst>
      <p:ext uri="{BB962C8B-B14F-4D97-AF65-F5344CB8AC3E}">
        <p14:creationId xmlns:p14="http://schemas.microsoft.com/office/powerpoint/2010/main" val="4179153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FE0290C-03A9-4949-A379-CCC9015A54A7}"/>
              </a:ext>
            </a:extLst>
          </p:cNvPr>
          <p:cNvGrpSpPr/>
          <p:nvPr/>
        </p:nvGrpSpPr>
        <p:grpSpPr>
          <a:xfrm>
            <a:off x="1" y="2769507"/>
            <a:ext cx="12191999" cy="1318987"/>
            <a:chOff x="1" y="4174554"/>
            <a:chExt cx="12191999" cy="131898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DF8EF26-7AD5-4E7F-95B3-9A57CF80C483}"/>
                </a:ext>
              </a:extLst>
            </p:cNvPr>
            <p:cNvSpPr txBox="1"/>
            <p:nvPr/>
          </p:nvSpPr>
          <p:spPr>
            <a:xfrm>
              <a:off x="1" y="4174554"/>
              <a:ext cx="12191999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6000" dirty="0">
                  <a:cs typeface="Arial" pitchFamily="34" charset="0"/>
                </a:rPr>
                <a:t>THANK YOU</a:t>
              </a:r>
              <a:endParaRPr lang="ko-KR" altLang="en-US" sz="6000" dirty="0"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DEB2CA-D11F-4CA5-BC5A-6C38FF4BF392}"/>
                </a:ext>
              </a:extLst>
            </p:cNvPr>
            <p:cNvSpPr txBox="1"/>
            <p:nvPr/>
          </p:nvSpPr>
          <p:spPr>
            <a:xfrm>
              <a:off x="51" y="5113885"/>
              <a:ext cx="12191852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867" dirty="0">
                  <a:cs typeface="Arial" pitchFamily="34" charset="0"/>
                </a:rPr>
                <a:t>Insert the Subtitle of Your Presentation</a:t>
              </a:r>
              <a:endParaRPr lang="ko-KR" altLang="en-US" sz="1867" dirty="0"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1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COLOR-1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1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2466</TotalTime>
  <Words>668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맑은 고딕</vt:lpstr>
      <vt:lpstr>Arial</vt:lpstr>
      <vt:lpstr>Arial Unicode MS</vt:lpstr>
      <vt:lpstr>Calibri</vt:lpstr>
      <vt:lpstr>montserratregular</vt:lpstr>
      <vt:lpstr>Tahoma</vt:lpstr>
      <vt:lpstr>Times New Roman</vt:lpstr>
      <vt:lpstr>Wingdings</vt:lpstr>
      <vt:lpstr>Cover and End Slide Master</vt:lpstr>
      <vt:lpstr>Section Break Slide Master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Yamini Tantuway</dc:creator>
  <cp:lastModifiedBy>Guest user</cp:lastModifiedBy>
  <cp:revision>6</cp:revision>
  <dcterms:modified xsi:type="dcterms:W3CDTF">2024-10-25T13:05:58Z</dcterms:modified>
</cp:coreProperties>
</file>